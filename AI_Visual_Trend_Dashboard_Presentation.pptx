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93fd077c164607" /><Relationship Type="http://schemas.openxmlformats.org/officeDocument/2006/relationships/extended-properties" Target="/docProps/app.xml" Id="R6ba0a62614884b3c" /><Relationship Type="http://schemas.openxmlformats.org/officeDocument/2006/relationships/officeDocument" Target="/ppt/presentation.xml" Id="Re96628ed9c4240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e49bb383cc4ed1"/>
  </p:sldMasterIdLst>
  <p:notesMasterIdLst>
    <p:notesMasterId xmlns:r="http://schemas.openxmlformats.org/officeDocument/2006/relationships" r:id="Rfeaa14652da34edb"/>
  </p:notesMasterIdLst>
  <p:sldIdLst>
    <p:sldId xmlns:r="http://schemas.openxmlformats.org/officeDocument/2006/relationships" id="256" r:id="R142d41ee729942b1"/>
    <p:sldId xmlns:r="http://schemas.openxmlformats.org/officeDocument/2006/relationships" id="257" r:id="Rbb29560265e14b10"/>
    <p:sldId xmlns:r="http://schemas.openxmlformats.org/officeDocument/2006/relationships" id="258" r:id="R0e7d639cb03742b7"/>
    <p:sldId xmlns:r="http://schemas.openxmlformats.org/officeDocument/2006/relationships" id="259" r:id="R75c8a0e487ee47bc"/>
    <p:sldId xmlns:r="http://schemas.openxmlformats.org/officeDocument/2006/relationships" id="260" r:id="R830cb176bc324fa3"/>
    <p:sldId xmlns:r="http://schemas.openxmlformats.org/officeDocument/2006/relationships" id="261" r:id="R5f17cf468df54b20"/>
    <p:sldId xmlns:r="http://schemas.openxmlformats.org/officeDocument/2006/relationships" id="262" r:id="R6772b138a19e4f20"/>
    <p:sldId xmlns:r="http://schemas.openxmlformats.org/officeDocument/2006/relationships" id="263" r:id="R05cc0736c2344a84"/>
    <p:sldId xmlns:r="http://schemas.openxmlformats.org/officeDocument/2006/relationships" id="264" r:id="R7688ae32c4804240"/>
    <p:sldId xmlns:r="http://schemas.openxmlformats.org/officeDocument/2006/relationships" id="265" r:id="R9453cc370e324bfc"/>
    <p:sldId xmlns:r="http://schemas.openxmlformats.org/officeDocument/2006/relationships" id="266" r:id="Ra4573058c21f4882"/>
    <p:sldId xmlns:r="http://schemas.openxmlformats.org/officeDocument/2006/relationships" id="267" r:id="Rc7a1cb63efde4299"/>
    <p:sldId xmlns:r="http://schemas.openxmlformats.org/officeDocument/2006/relationships" id="268" r:id="R07edb445b2e346d1"/>
    <p:sldId xmlns:r="http://schemas.openxmlformats.org/officeDocument/2006/relationships" id="269" r:id="Rfbdb1242b10f44b2"/>
    <p:sldId xmlns:r="http://schemas.openxmlformats.org/officeDocument/2006/relationships" id="270" r:id="R257c391cfec34547"/>
    <p:sldId xmlns:r="http://schemas.openxmlformats.org/officeDocument/2006/relationships" id="271" r:id="Rdfede55138d8459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e49bb383cc4ed1" /><Relationship Type="http://schemas.openxmlformats.org/officeDocument/2006/relationships/theme" Target="/ppt/theme/theme1.xml" Id="R9bd74dea6dd0448f" /><Relationship Type="http://schemas.openxmlformats.org/officeDocument/2006/relationships/notesMaster" Target="/ppt/notesMasters/notesMaster1.xml" Id="Rfeaa14652da34edb" /><Relationship Type="http://schemas.openxmlformats.org/officeDocument/2006/relationships/presProps" Target="/ppt/presProps.xml" Id="R4d45d49b89714c21" /><Relationship Type="http://schemas.openxmlformats.org/officeDocument/2006/relationships/viewProps" Target="/ppt/viewProps.xml" Id="Ra207bab1bb9e4a4c" /><Relationship Type="http://schemas.openxmlformats.org/officeDocument/2006/relationships/tableStyles" Target="/ppt/tableStyles.xml" Id="R00302f37403649c2" /><Relationship Type="http://schemas.openxmlformats.org/officeDocument/2006/relationships/slide" Target="/ppt/slides/slide1.xml" Id="R142d41ee729942b1" /><Relationship Type="http://schemas.openxmlformats.org/officeDocument/2006/relationships/slide" Target="/ppt/slides/slide2.xml" Id="Rbb29560265e14b10" /><Relationship Type="http://schemas.openxmlformats.org/officeDocument/2006/relationships/slide" Target="/ppt/slides/slide3.xml" Id="R0e7d639cb03742b7" /><Relationship Type="http://schemas.openxmlformats.org/officeDocument/2006/relationships/slide" Target="/ppt/slides/slide4.xml" Id="R75c8a0e487ee47bc" /><Relationship Type="http://schemas.openxmlformats.org/officeDocument/2006/relationships/slide" Target="/ppt/slides/slide5.xml" Id="R830cb176bc324fa3" /><Relationship Type="http://schemas.openxmlformats.org/officeDocument/2006/relationships/slide" Target="/ppt/slides/slide6.xml" Id="R5f17cf468df54b20" /><Relationship Type="http://schemas.openxmlformats.org/officeDocument/2006/relationships/slide" Target="/ppt/slides/slide7.xml" Id="R6772b138a19e4f20" /><Relationship Type="http://schemas.openxmlformats.org/officeDocument/2006/relationships/slide" Target="/ppt/slides/slide8.xml" Id="R05cc0736c2344a84" /><Relationship Type="http://schemas.openxmlformats.org/officeDocument/2006/relationships/slide" Target="/ppt/slides/slide9.xml" Id="R7688ae32c4804240" /><Relationship Type="http://schemas.openxmlformats.org/officeDocument/2006/relationships/slide" Target="/ppt/slides/slide10.xml" Id="R9453cc370e324bfc" /><Relationship Type="http://schemas.openxmlformats.org/officeDocument/2006/relationships/slide" Target="/ppt/slides/slide11.xml" Id="Ra4573058c21f4882" /><Relationship Type="http://schemas.openxmlformats.org/officeDocument/2006/relationships/slide" Target="/ppt/slides/slide12.xml" Id="Rc7a1cb63efde4299" /><Relationship Type="http://schemas.openxmlformats.org/officeDocument/2006/relationships/slide" Target="/ppt/slides/slide13.xml" Id="R07edb445b2e346d1" /><Relationship Type="http://schemas.openxmlformats.org/officeDocument/2006/relationships/slide" Target="/ppt/slides/slide14.xml" Id="Rfbdb1242b10f44b2" /><Relationship Type="http://schemas.openxmlformats.org/officeDocument/2006/relationships/slide" Target="/ppt/slides/slide15.xml" Id="R257c391cfec34547" /><Relationship Type="http://schemas.openxmlformats.org/officeDocument/2006/relationships/slide" Target="/ppt/slides/slide16.xml" Id="Rdfede55138d845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f7cfec4b45341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bf677f16694537" /><Relationship Type="http://schemas.openxmlformats.org/officeDocument/2006/relationships/notesMaster" Target="/ppt/notesMasters/notesMaster1.xml" Id="R0ae08f09d59148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d29716a38949b5" /><Relationship Type="http://schemas.openxmlformats.org/officeDocument/2006/relationships/notesMaster" Target="/ppt/notesMasters/notesMaster1.xml" Id="R556e762600b143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7e66ab1d2846f0" /><Relationship Type="http://schemas.openxmlformats.org/officeDocument/2006/relationships/notesMaster" Target="/ppt/notesMasters/notesMaster1.xml" Id="R53558ec6014841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687644be21490d" /><Relationship Type="http://schemas.openxmlformats.org/officeDocument/2006/relationships/notesMaster" Target="/ppt/notesMasters/notesMaster1.xml" Id="R64f66e4b972b42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b6f7e0c78b44e9" /><Relationship Type="http://schemas.openxmlformats.org/officeDocument/2006/relationships/notesMaster" Target="/ppt/notesMasters/notesMaster1.xml" Id="R3ad8a3e631814f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e908493a2c49bc" /><Relationship Type="http://schemas.openxmlformats.org/officeDocument/2006/relationships/notesMaster" Target="/ppt/notesMasters/notesMaster1.xml" Id="R1c629059b06341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f7667a61d148e6" /><Relationship Type="http://schemas.openxmlformats.org/officeDocument/2006/relationships/notesMaster" Target="/ppt/notesMasters/notesMaster1.xml" Id="R36bd501e588346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8bb4decd894610" /><Relationship Type="http://schemas.openxmlformats.org/officeDocument/2006/relationships/notesMaster" Target="/ppt/notesMasters/notesMaster1.xml" Id="R4a6d818d64e943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fe34eb9b8a4116" /><Relationship Type="http://schemas.openxmlformats.org/officeDocument/2006/relationships/notesMaster" Target="/ppt/notesMasters/notesMaster1.xml" Id="Re925848ab5c94d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8564faf213c41bb" /><Relationship Type="http://schemas.openxmlformats.org/officeDocument/2006/relationships/notesMaster" Target="/ppt/notesMasters/notesMaster1.xml" Id="R164d9df567ad4f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781b870e864532" /><Relationship Type="http://schemas.openxmlformats.org/officeDocument/2006/relationships/notesMaster" Target="/ppt/notesMasters/notesMaster1.xml" Id="R386ef2a6d1c948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ba3ba8d3c54614" /><Relationship Type="http://schemas.openxmlformats.org/officeDocument/2006/relationships/notesMaster" Target="/ppt/notesMasters/notesMaster1.xml" Id="Re230d5a4d498437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94ecb6fad324403" /><Relationship Type="http://schemas.openxmlformats.org/officeDocument/2006/relationships/notesMaster" Target="/ppt/notesMasters/notesMaster1.xml" Id="R4fe00fd91ad441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44016a1cd3040f1" /><Relationship Type="http://schemas.openxmlformats.org/officeDocument/2006/relationships/notesMaster" Target="/ppt/notesMasters/notesMaster1.xml" Id="R96afa2490b664ee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c6f6d8a73a40b5" /><Relationship Type="http://schemas.openxmlformats.org/officeDocument/2006/relationships/notesMaster" Target="/ppt/notesMasters/notesMaster1.xml" Id="Rb2694c63aadb441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70bd6ab139f4956" /><Relationship Type="http://schemas.openxmlformats.org/officeDocument/2006/relationships/notesMaster" Target="/ppt/notesMasters/notesMaster1.xml" Id="Rba9218b76c4145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ba3913b7b14c1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6703692719e4d0b" /><Relationship Type="http://schemas.openxmlformats.org/officeDocument/2006/relationships/slideLayout" Target="/ppt/slideLayouts/slideLayout2.xml" Id="Rbb9ad493062540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9ad493062540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7bfaa2cdc54076" /><Relationship Type="http://schemas.openxmlformats.org/officeDocument/2006/relationships/image" Target="/ppt/media/image.jpeg" Id="R5a3d285edefc4e0f" /><Relationship Type="http://schemas.openxmlformats.org/officeDocument/2006/relationships/notesSlide" Target="/ppt/notesSlides/notesSlide1.xml" Id="R2be6b78b2f9848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ff6e36e90f4158" /><Relationship Type="http://schemas.openxmlformats.org/officeDocument/2006/relationships/notesSlide" Target="/ppt/notesSlides/notesSlide2.xml" Id="R8b6fa1aa08174f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7fec4fc17946d7" /><Relationship Type="http://schemas.openxmlformats.org/officeDocument/2006/relationships/notesSlide" Target="/ppt/notesSlides/notesSlide3.xml" Id="R6481511922fe48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38671a7e4b4865" /><Relationship Type="http://schemas.openxmlformats.org/officeDocument/2006/relationships/notesSlide" Target="/ppt/notesSlides/notesSlide4.xml" Id="R1f766f3ecf324f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a790daf31e4b82" /><Relationship Type="http://schemas.openxmlformats.org/officeDocument/2006/relationships/notesSlide" Target="/ppt/notesSlides/notesSlide5.xml" Id="Rbb2ba1799af843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8ddaa463aa47ca" /><Relationship Type="http://schemas.openxmlformats.org/officeDocument/2006/relationships/notesSlide" Target="/ppt/notesSlides/notesSlide6.xml" Id="Re7c78511d74e46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f759ee29b74ad2" /><Relationship Type="http://schemas.openxmlformats.org/officeDocument/2006/relationships/image" Target="/ppt/media/image2.jpeg" Id="R1bf5a109f669443c" /><Relationship Type="http://schemas.openxmlformats.org/officeDocument/2006/relationships/notesSlide" Target="/ppt/notesSlides/notesSlide7.xml" Id="R4268faff119941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27bfd62a194596" /><Relationship Type="http://schemas.openxmlformats.org/officeDocument/2006/relationships/notesSlide" Target="/ppt/notesSlides/notesSlide8.xml" Id="R7af3aed4312144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b9387eb4844068" /><Relationship Type="http://schemas.openxmlformats.org/officeDocument/2006/relationships/notesSlide" Target="/ppt/notesSlides/notesSlide9.xml" Id="R74bac7f5909f438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ff102041ce4d06" /><Relationship Type="http://schemas.openxmlformats.org/officeDocument/2006/relationships/image" Target="/ppt/media/image.png" Id="Rffb711d062264216" /><Relationship Type="http://schemas.openxmlformats.org/officeDocument/2006/relationships/image" Target="/ppt/media/image2.png" Id="Reb916e16aace429d" /><Relationship Type="http://schemas.openxmlformats.org/officeDocument/2006/relationships/image" Target="/ppt/media/image3.png" Id="Rf4517549fee74acb" /><Relationship Type="http://schemas.openxmlformats.org/officeDocument/2006/relationships/image" Target="/ppt/media/image4.png" Id="Rc8a0f3a9eb5e4911" /><Relationship Type="http://schemas.openxmlformats.org/officeDocument/2006/relationships/notesSlide" Target="/ppt/notesSlides/notesSlide10.xml" Id="Rd49bfb67718744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de6e6a5a5649bb" /><Relationship Type="http://schemas.openxmlformats.org/officeDocument/2006/relationships/notesSlide" Target="/ppt/notesSlides/notesSlide11.xml" Id="R4e1a071b7b884a9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30a6384a944c31" /><Relationship Type="http://schemas.openxmlformats.org/officeDocument/2006/relationships/image" Target="/ppt/media/image3.jpeg" Id="R073bce3775c14692" /><Relationship Type="http://schemas.openxmlformats.org/officeDocument/2006/relationships/notesSlide" Target="/ppt/notesSlides/notesSlide12.xml" Id="Rccbaf67e43ab4e0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c455f7c3c04fc3" /><Relationship Type="http://schemas.openxmlformats.org/officeDocument/2006/relationships/image" Target="/ppt/media/image4.jpeg" Id="R5422e06f69604e90" /><Relationship Type="http://schemas.openxmlformats.org/officeDocument/2006/relationships/notesSlide" Target="/ppt/notesSlides/notesSlide13.xml" Id="Rc255ee0965ce436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4019d110eb47ba" /><Relationship Type="http://schemas.openxmlformats.org/officeDocument/2006/relationships/notesSlide" Target="/ppt/notesSlides/notesSlide14.xml" Id="R076583e96233401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bd9056cf1b4515" /><Relationship Type="http://schemas.openxmlformats.org/officeDocument/2006/relationships/notesSlide" Target="/ppt/notesSlides/notesSlide15.xml" Id="R612bf8d9a4f1479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a7cf7205014426" /><Relationship Type="http://schemas.openxmlformats.org/officeDocument/2006/relationships/notesSlide" Target="/ppt/notesSlides/notesSlide16.xml" Id="R8c7bc157993744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9D4B46-AEC1-400F-BEE9-63D8EEF4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4350"/>
            <a:ext cx="52197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d285edefc4e0f"/>
          <a:stretch xmlns:a="http://schemas.openxmlformats.org/drawingml/2006/main"/>
        </p:blipFill>
        <p:spPr>
          <a:xfrm xmlns:a="http://schemas.openxmlformats.org/drawingml/2006/main">
            <a:off x="7157531" y="685800"/>
            <a:ext cx="3287137" cy="3848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D1C9D-3BFB-4C5D-A3C7-38D694F1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76800"/>
            <a:ext cx="5219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F8973-792C-431F-8E26-9324432D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6096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C97B4F-0D60-4B8E-A253-42AC9B9A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533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A data-driven research dashboard for AI-generated visual culture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DFD68F-7370-4D4B-A4DE-B1CA8569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52863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Prompt trend analytics, tool benchmarking, representative works, and creative strategy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Designed as a Data Hub Dashboard with interactive exploration and visual evidence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Built with Streamlit, Pandas, Plotly, scikit-learn-style forecasting, and local AI assets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0FA0B-2618-410B-800A-C8B9C07A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62500"/>
            <a:ext cx="4171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22"/>
          </a:solidFill>
          <a:ln xmlns:a="http://schemas.openxmlformats.org/drawingml/2006/main" w="9525">
            <a:solidFill>
              <a:srgbClr val="39D6C9"/>
            </a:solidFill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Presentation focus: PRD alignment + full website walkthrough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7ED19-0900-4A4F-AF1E-9BCC6CA2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BCF1DB-20CE-4435-A46D-E2F653E8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438010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B56262-B610-4ECD-A114-559BF5BB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FRAMEWORK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D352F6-077F-4973-8A55-25734734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5W1H defines the product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A0AFD4-1F38-4C88-9E5B-105BE80D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project starts from a clear product requirement document and turns it into a working Streamlit dashboard.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68DC5-6853-426B-A64F-EE532B22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E9FEB-714C-45BB-AEE7-91EA8FFE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E5DFF-0D4D-4719-A360-3FD2C195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20F1CB-9CED-4290-A4C1-7E795730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1460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Why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6C0DEC-B740-46F0-AAF3-E830A14D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Explore trends in AI-generated visual content, creative advertising styles, film production, and creative technology.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9304AC-B73E-4733-8693-6B4FCB98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51D02C-E97B-4834-8FD8-A6C233D0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F0356-8955-4BA7-A3B7-1CE2A9C3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1460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Who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46AE1C-43CC-43D1-8EE7-CB943A9B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7655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Students, creators, designers, marketers, and people interested in AI-generated visual content.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D8694E-D921-45DD-9222-CA99B9AF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6220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8C97AC-A07C-40C6-A346-8835CC98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6220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3FED4-1A74-4274-867A-57F92E50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1460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What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8DA8CC-E64C-4783-84BF-591B4751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Trend charts, style comparison, keyword analysis, AI tool comparison, filters, data tables, metrics, and insights.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8BBAEA-7F87-40E1-AC24-E2D33532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26500A-48AA-4C73-9E48-3034A1FD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9C2B4-2E18-4D19-B589-A8367D16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When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A5005E-03A7-48B0-AA0A-B61C426E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Used for researching visual trends, finding creative inspiration, analyzing AI content, and comparing design directions.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7FE672-8EE9-4520-A4F1-09BB1AF2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38F4ED-3A1D-4779-8FB2-EF51A42F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B8D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45BE6C-9965-46F9-9A49-0CB79670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EB8D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EB8D4"/>
                </a:solidFill>
                <a:latin typeface="Arial"/>
                <a:ea typeface="Arial"/>
                <a:cs typeface="Arial"/>
              </a:rPr>
              <a:t>Where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DAFFC3-C908-4D53-8D3E-E5832377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5770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 Streamlit web application prepared for GitHub and Streamlit Cloud deployment.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65A20A-B09C-45B2-AE4B-31BB0E3B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433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5999FB-FEE4-4427-ACD9-470AC3CE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4335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415526-1F16-4054-B273-1C472502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9575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17D2AB-8825-491B-A788-FB7C2574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5770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Python, Streamlit, Pandas, Plotly, AI-assisted coding, GitHub, and Streamlit Cloud.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6F52DD-FFEF-4327-A278-A44C0C3C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F3EE4B-BE29-4462-A93F-DDABD75D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884951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3A3300-656F-49A2-A204-102C1CD8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ALIGNMENT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39344-CC3C-4D18-A5D5-2051EB02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Target users and jobs to be done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83E081-7AC9-46CC-B1D5-0BFAB846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website supports both analytical review and creative decision-making.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241930-233D-4B9C-B493-E22981AB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F14C6-ADC2-49D4-AC17-E64D7521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FA4EE-8F54-4446-9C6E-89289418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E078C-E45A-4B2A-9CB9-18D392B7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Design Students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DE391F-9C66-4116-8D3E-4638CFC7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21336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Need a clear explanation of AI visual trends, datasets, tools, and project methodology for learning and presentation.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9A381C-ECEC-4082-AD04-1F402AA2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030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59F41B-F858-422A-A0D5-6ECF834C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0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81C996-956E-4233-A141-1E75F1D3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527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Digital Creators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A63DE9-BD7A-45DC-BD3E-762004B9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14650"/>
            <a:ext cx="21336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Need style inspiration, prompt starters, moodboard directions, and representative images for faster concept exploration.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6FD4FB-9FD0-4ECF-A9AC-1401B5EE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B9791-9B55-4E1D-8883-ADB1972C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E6351A-951E-4528-9296-51165D13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527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Art Directors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8ED570-40EB-4D29-B4F2-D31D31E6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14650"/>
            <a:ext cx="21336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Need tool comparison, visual evidence, and use-case recommendations for production planning and team discussion.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0816A1-6832-42C2-B7D2-0AFA8066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64AE69-69F1-490B-BE16-3D5186A3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9FFBA3-7DC0-46F2-8C81-C66CE9D2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527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Evaluators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A9D104-3CDA-4691-80A3-A59CD695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914650"/>
            <a:ext cx="21336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Need to see data credibility, interaction depth, code organization, visual quality, and final delivery readiness.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BD435C-601F-4A97-A94E-FAFC904F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Primary user journey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132BA8-70DF-4FF5-BDB3-07FCCF47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933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Start with top metrics and the AI toolchain snapshot</a:t>
            </a:r>
          </a:p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Filter by style, year, and tool to explore trend patterns</a:t>
            </a:r>
          </a:p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Open representative works to understand the visual meaning behind the data</a:t>
            </a:r>
          </a:p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Use recommendations, moodboard, and forecast to form a creative direction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BA2374-C1BC-4D83-8A70-EC3BB1FD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1D3A5A-B83C-46B1-99FF-6E4D1CEC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687695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B5BB8F-7F0E-4424-9530-3CECB0D1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ALIGNMENT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85BB67-7734-4EAF-AF95-720DCBCD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Requirement coverage 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5326FE-6DE7-462F-85C6-13A6EFE5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deck maps the website directly against the requested project expectations.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F9547-FC88-4897-8341-40958807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964708-3C23-438A-808E-C791618E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F00564-D71F-4ACB-8CC6-F2AFC1E4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Requirement Area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F622B8-E32F-4947-A592-F8F201F0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33625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0E832-2A2C-46B4-B6AC-2F5601AD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003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What the website includes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E7D3D-2220-4938-9040-4918EAEF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33625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69B0D1-223D-4D7A-9B3B-3D399730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Evidence in the project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F511E-9B36-4269-9BB3-0BFD254B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185016-00FD-48D7-9A1A-8E81B384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Data credibility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203B4A-B827-43F7-A067-87DCD1B6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575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61358E-BC1A-4B6C-A116-D05D35C4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241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981,354 safe DiffusionDB prompts, source notes, transparent rules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987B6A-5CB7-434D-9C58-75C9F0B4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575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E707A3-8C45-4AB7-8E18-1658B868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241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Home metrics, README, data folder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69E4E-7124-480E-86F9-8AEC1674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65E541-BFFF-45E2-8324-881F9143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Interaction depth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AA5717-9AC6-4813-9153-A1519095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3147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A2B34B-C9AC-4B54-9F7A-98485938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813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Sidebar filters, chart drill-down, selected-tool linking, random exploration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0AEC50-46C1-425B-8F5E-2A937CEF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147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B462B6-604E-4657-B9E6-A641E963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Trend Analytics, Tool Benchmarks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BC04B6-01A2-4306-B0BF-A96BC2BE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1A5A82-682D-43DE-9013-FC586116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1104A3-C4F2-47F7-A1CC-97CFFABF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719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B99464-6631-4573-BA72-790E39BD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385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Representative generated works, model labels, visual evidence captions, motion previews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3F0F76-E4C4-4CA2-881B-3ADB43B7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719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99BEFA-C4DE-4CE7-8F13-1443B8C3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385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Representative Works, Creative Strategy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4E7DCF-90DE-4AC2-A418-06FE7020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CA5917-A4DE-43C0-B847-1FD7CC73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Technical quality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7CD16A-4F26-4CCF-97E7-31D9D23A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291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98E428-FADA-4720-9058-52E04AF6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957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Modular functions, cache, error handling, requirements file, deployment notes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9D612B-4B4C-4C82-802E-08B45542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291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62DB98-4BD6-4CF1-8D55-211EDF35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957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app.py, README, requirements.txt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809DF1-2FB0-475D-9085-43780146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DB2F58-B6E0-4489-A912-C2D2B1ED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Presentation readiness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482B80-C963-477F-B83A-D3A4686F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863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735976-22AE-4CE7-9246-F1E2DEA4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529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Screenshots, speaker notes, GitHub sync, PPT delivery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D62626-FCE1-4D4D-9CE5-CB2A4C96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863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86F00F-AFDE-4AAE-B6E1-DFD3E710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529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README, PPT deck, project repo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BF5F81-D60B-4601-AD92-D9B780ED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00713C9-3201-4405-AA47-5C85E0E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69165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A85286-AEE0-4D2C-B161-9B1E908E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FEATURE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DED16C-21F4-4C77-96D8-18A1FDDD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Main features translated into website modules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6D58D-2BF0-49E1-A197-D0F45453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Each required feature from the PRD is represented by a concrete section or interaction in the final dashboard.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2232A-F702-41B8-B105-4608F2FE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0BB12-CF4E-4A2D-B7AD-ADD65A27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66336-232F-48B6-86BE-0ED74C1E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479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PRD Feature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1C317-7BFD-4102-97BB-8728ECB1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812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5791EE-37FB-4FDE-973A-DC7A6D67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4792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Dashboard Implementation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FBF357-A49B-421C-8A15-B0ED74A8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9A8ED-70B7-4D83-A4A8-48D7979B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4792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Where It Appears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75B9D-B0C8-4363-9AB0-A9A03C87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CA826-CA6C-4240-9026-41D792E3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Trend 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711E03-8D6A-46EF-820C-5EA9778F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337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5A5CDA-565E-4F47-BF52-343BFC92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00037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Line and bar charts for AI visual style changes over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9129D1-D3E5-4F85-9A0F-BA246789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337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687407-4CAE-42C2-B977-B6AA5717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0037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Trend Analytics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B21790-E842-46F2-931E-1AF21433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76010B-FB46-4A72-9800-021CEC88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528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Tool Comparison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B7D124-0497-43AB-89E8-0C828DC8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861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E717E6-9AC7-4356-B8DE-C292FF82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55282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Factual capability matrix for Midjourney, OpenAI Images, Stable Diffusion, Adobe Firefly, and Runway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A63689-505D-4686-9123-02B40612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4861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A4C31-4D81-4329-8D7B-DC91F35A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5282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Tool Benchmarks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7F8A3E-6AAA-46F1-85CD-C679C41D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B31BA8-E92E-44E0-A62C-6F54718E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0527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Keyword Trend Dashboard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8B5749-5963-43A4-A574-27B0323A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386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89859A-8845-4BEC-9D82-2FD3E888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10527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Frequency and growth from real DiffusionDB prompt matches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E988D6-AB04-4BE7-9478-563BCCF5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386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FA70BE-BE4B-44F2-B5F8-CC13472E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0527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Keyword Insights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F3824C-B9F9-4D94-8C10-3E719CF4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C3E7FC-C968-4873-9D73-E62C3B7A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577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Interactive Filters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7BEA02-018B-49FF-BC02-C6299238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910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C40FC7-FD8A-42E0-AAF7-5409D821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5772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UTC date, style category, AI tool, and capability focus controls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CC9ABE-7032-42FB-8DB1-D5B126B7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91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6BA3B2-62FE-4FCC-BD78-9A6B8274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5772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Sidebar + chart drill-down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B0137B-2D06-4813-84F4-ACD724C7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E674DF-D6EF-44AA-8D19-4603C8F8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017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Dashboard Metrics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F7BD21-1ADE-4EA9-8985-0E7994EE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435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7A6308-4DD8-4EFA-9B96-3507C8EF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21017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Top tracked style, fastest daily growth, safe prompts, and classified matches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C450F6-C8D8-4AE0-877D-D924C674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1435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6D89CA-7C5F-4321-9652-516F9B1A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1017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Home hero metrics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BB6673-DFF0-42B7-BA45-1D31EE81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238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Additional polish beyond the PRD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9D661B-0E12-4117-8C56-FDAEDC02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905500"/>
            <a:ext cx="676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Representative works, creative direction generator, moodboard preview, motion preview, real-world references, and exploratory forecasting.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E5DCDD4-711B-4B48-9EC1-629A62AC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E9CD12-E880-4EF8-8AA8-96D208CD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66630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B7B6F8-55FA-46BE-9C9D-5CC352D7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WEBSITE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34968-F11B-4BF4-B8BD-89788E0B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 full dashboard system with six content areas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AAB7D-2271-46CF-AF60-99E1379D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site structure was designed to move from overview, to evidence, to creative application.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AC117-A8BC-457D-B09B-5BE96B3F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B631E4-6536-4D71-A07D-A208D5E5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332FC-97F6-4F32-B33C-34083D35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D1376B-03E4-42F7-8C8E-7239470B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0985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Home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216694-86DA-47C4-B3DA-60E3AC79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7180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hero metrics, data volume, toolchain snapshot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163021-B9CC-418F-964B-5622E0B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45745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C05B7-1B28-414B-9E57-00C9C7F5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45745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2F9E08-ADA6-4BEC-AB72-7539B9E3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60985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Trend Analytics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B73F60-1781-4800-B316-24861AAA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7180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daily style signals and click drill-down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79AA5-4187-4204-B2A0-33DEB49A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5745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23E71C-F0C0-48AB-829C-26C41A69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5745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097581-2650-4A2E-AF72-F81598A8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Representative Works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657BD0-6FF0-47BD-84ED-697E9AE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7180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image examples and visual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C78936-D52C-4605-B074-A349F245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5745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FA965D-36F7-4476-94ED-C1937EAE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5745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9FC24F-F32F-4561-8093-49E1EED2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0985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Tool Benchmarks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EE6389-8D45-469F-BE90-649F9629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97180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official capability matrix and tool 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C85493-2E86-4058-AD21-4A14E7B4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B1AE36-0B80-45DC-86AF-8526028A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0206D9-F67A-441F-A257-AE84742D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3860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Keyword Insights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0A3538-D0B7-4E6D-8458-4C12E8D8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0055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real keyword frequency and growth signals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EAAEEF-D046-499B-8407-C0BA5B54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88620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4E0772-D6DB-43CF-AABF-0FEA2EFE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88620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B8D4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D70E42-B5DD-4079-91FD-5CA8FF8B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3860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EB8D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EB8D4"/>
                </a:solidFill>
                <a:latin typeface="Arial"/>
                <a:ea typeface="Arial"/>
                <a:cs typeface="Arial"/>
              </a:rPr>
              <a:t>Creative Strategy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7BEB8D-B652-43A8-8053-438AC4C2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40055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recommendations, moodboard, motion preview, forecast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0236C8-1692-45C3-B2B3-AF585842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8620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D0F0A7-ACCE-44C8-B325-F2D923FC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8620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B9A16B-876C-4BA1-8487-48298023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3860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Real References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C25030-6DD6-4FCC-9BC2-1D1D41F2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0055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official links and trend context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B41D90-3BCE-4BF1-9364-C181FC17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Design logic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1CF6D3-A658-40D0-95B9-657548D0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292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dashboard does not end at charts. It converts trend data into visual understanding, tool choice, and creative direction.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8172E4-C5B7-43D3-888D-824488AE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19DBAB-297B-46D1-8C68-D7E7A90C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977278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EEB0C7-CE58-418C-8325-90513CFE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UI DESIGN DIRECTION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708E1-A4EC-4F8B-93E7-9CECB68D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 modern dark dashboard with AI-themed visual cues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E29F45-4936-4FA5-80C2-93CBC2F6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visual system follows the PRD direction while keeping the interface readable for data exploration.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9AEE73-337B-42BD-BDDE-41470D88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5a109f669443c"/>
          <a:stretch xmlns:a="http://schemas.openxmlformats.org/drawingml/2006/main"/>
        </p:blipFill>
        <p:spPr>
          <a:xfrm xmlns:a="http://schemas.openxmlformats.org/drawingml/2006/main">
            <a:off x="7508788" y="2247900"/>
            <a:ext cx="2603673" cy="3048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CF027A-E326-4F98-9376-09573B50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C46768-D75C-494A-AD0B-AB358C4D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AF10C5-AC28-4813-8B1B-D5C6FF53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Dark UI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ED2FE-57A3-413B-91A2-CE88BD20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2038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background uses a deep dashboard theme to make charts, metrics, and images feel unified.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0009D8-6589-41FB-BC5F-068235C8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6220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162EE-B0A2-41E6-9E70-89AFAA5A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6220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DADBA-3CCF-4282-A7DB-61C5D410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1460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Neon accents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33FF00-5068-483E-B3A1-A673C895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76550"/>
            <a:ext cx="2038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Cyan, gold, green, coral, and violet accents are used for emphasis, not decoration overload.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EE94C7-3914-4184-AAE9-BF539F4F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A4D82-5562-4520-8090-0DA29182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F0C76-321F-44AF-B327-6B5BBB89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Sidebar navigation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FEDAEA-612F-4E49-A2D9-C94155A4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33900"/>
            <a:ext cx="2038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Filters and page navigation are grouped to support repeated exploration.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DD5C8E-F8BF-45FE-8511-ED80AD05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1955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200FE4-CE51-4ACE-9C3C-BEC41E80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195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4C42EB-2E26-4493-A4C5-88480D64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719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Responsive layout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82BE50-7F70-4A2A-99A8-283828AC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33900"/>
            <a:ext cx="2038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Wide chart areas, compact metrics, and local image assets help the dashboard adapt for presentation and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69F289-96D6-40AB-87AB-BFB2C4C5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A55FD5-5466-4257-985F-552B740B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497203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A6659E-5227-44C4-BD1E-DE2921A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DATA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C2FFE-00CA-4FC2-8AC5-C3D44FA4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dashboard now uses real DiffusionDB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6BE42-8457-486F-9DA4-DBD841E1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source is the official DiffusionDB 2M text-only metadata table, released under CC0 1.0.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01D6E-D7D2-4459-AEBF-0D8381AA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11C7A2-F1E1-45FE-988C-45CE3F08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3A5C14-E2CB-4D29-AB22-74B49146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1990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981,354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D360E3-7FCF-440B-8C76-AC38833A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71800"/>
            <a:ext cx="19907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safe prompt records analyzed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1CF96-6FBF-47A2-ABF2-857679B9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381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765DA-3112-4031-94A5-C06A91AF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33650"/>
            <a:ext cx="1990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Aug 06-20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30C6B4-81D5-400C-B077-26C6D395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71800"/>
            <a:ext cx="19907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real UTC collection window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31FB34-11F4-482D-9F2A-DBDCE330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64B63-4F51-4CAD-8347-0E5FB7B9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33650"/>
            <a:ext cx="1990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DC37EC-F37A-49B0-AFC8-EE624EFA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71800"/>
            <a:ext cx="19907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tracked visual styles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71D908-5C4B-4B73-A51F-473A8F14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81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DE42A-7CF1-4A6C-9FED-B03D817B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33650"/>
            <a:ext cx="1990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26.85%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A91A53-13A5-40D5-B6FF-0D1149DA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71800"/>
            <a:ext cx="19907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tracked-style rule coverage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97FB1F-292C-4C7E-98CD-8F744860F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3FA4DC-F5E7-460C-82F4-C24FADB4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342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DB67CC-028E-4DBB-8C75-78415B28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3086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Real source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DF2D6C-8349-4175-A367-7A6BD416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14850"/>
            <a:ext cx="3086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DiffusionDB 2M metadata.parquet</a:t>
            </a:r>
          </a:p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2,000,000 official metadata rows</a:t>
            </a:r>
          </a:p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CC0 1.0 license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04A0F2-37CD-4D79-9894-8B3A6B32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0050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376E37-1AAB-47D9-9087-8725BF78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00500"/>
            <a:ext cx="342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F55B47-4D41-43EA-BEA4-60677D73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152900"/>
            <a:ext cx="3086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Cleaning and aggregation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FFFD5-0744-4946-8127-C587413B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14850"/>
            <a:ext cx="3086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Keep valid timestamps, image_nsfw &lt; 0.1, prompt_nsfw &lt; 0.1; assign documented keyword rules; aggregate by UTC date.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F40778-EB47-4070-9DBD-167034BF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00500"/>
            <a:ext cx="2476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6F67AA-00B4-45CB-A3D4-96C906A7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005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510474-4D53-4699-8A4D-AFCE9397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529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Honest limitation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C8E3F6-C0BA-4B77-86AF-E85B1ED2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14850"/>
            <a:ext cx="2133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source window is short. Tracked styles are a transparent analytical lens, not a complete ontology of every prompt.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84185D-194D-414B-85B6-E3D43B1F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D2144C-141B-45BC-B11C-1EFE61F2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152066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22DC9A-3447-405B-87E7-0930AAE8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TREND ANALYTICS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3DB542-3876-4E8D-AAB7-FD2B2155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Real daily prompt matches reveal the leading tracked styles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8AE629-77C6-4B17-AFF1-72C7D5AA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On 2022-08-20 UTC, 3D Render leads the tracked style ranking, followed by Anime and Cyberpunk.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DDFF1-D04C-43CC-B7DF-53F4EBA6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38461-F8BB-44E7-A2A5-FF237F2A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3D Render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EF9B8-8183-49D3-8F7B-747EFD19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19350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44357-D7DA-48D9-9EB9-228A90B6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19350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35873-BEBF-43B4-BC31-FE7E44F0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00300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2306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41DB33-1971-495A-8307-9921E7E8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2425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Anime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EC334F-07DB-431A-95D5-1018F572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11475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576E6E-BF9A-4766-AA10-CA70CCC4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11475"/>
            <a:ext cx="1831452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B4CAFC-27FD-40AB-8699-A0064F1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92425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1449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956D53-35A0-4D02-A4B5-72FCF4F8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4550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Cyberpunk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9CD7E6-C727-4A90-A04D-CAECDD9A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03600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1D463C-88D7-417E-8243-4B5D32BF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03600"/>
            <a:ext cx="1525578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7B2DAF-680F-4090-9861-C56CA3A7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84550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1207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4E3641-F6B0-4CF9-86BA-C0BEA6B6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6675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Retro Futurism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428810-3296-4B07-AFC4-79B00DA4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895725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19FCA0-25D9-4204-840B-1045C5BA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895725"/>
            <a:ext cx="760893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676A8B-B220-45CD-9544-D0663431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76675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602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9317E6-3104-4CB5-ABDD-ACEADD51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8800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Surreal Editorial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2FCF45-3F88-4CEE-AB8A-FA4E107C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87850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30657B-2ECB-4175-894C-A0DF8DF6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87850"/>
            <a:ext cx="489146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447BDC-8FB5-4BEE-94EC-E33A6CB8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68800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387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F5B32D-E58E-41DD-8416-AF88D313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0925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AI Cinematic Storyboard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73F9EA-610A-4262-AFC8-398E5C55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879975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138BDA-9D23-470B-8AA7-BE64BBA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879975"/>
            <a:ext cx="487882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B8D4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FB6844-B637-4C77-84D4-84FCF828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60925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386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B3D25F-D710-4652-9845-2B7E1E32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76500"/>
            <a:ext cx="3714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1F4089-F9A6-4CA5-B6F7-1BCC9769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76500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ABD038-09DF-4D32-956F-D4744256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28900"/>
            <a:ext cx="3371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Main insight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D1C7D2-96AA-48FD-9C53-5D039AEE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90850"/>
            <a:ext cx="3371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Rendering language is highly visible in the real prompt sample: 3D Render reaches 2,306 matched prompts on the latest date.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D074AB-7C47-41B1-A4AE-52E49FF0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57650"/>
            <a:ext cx="3714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000B19-9307-421A-BD6A-520BF68D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57650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B319EE-9112-4C08-B0D4-1B644B78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210050"/>
            <a:ext cx="3371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How the insight was found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DA74F6-8CDA-4D18-950B-8C516974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72000"/>
            <a:ext cx="3371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Safety-filtered prompt matches were grouped by UTC date and tracked style, then normalized into a daily comparison index.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E86C82-4F14-481F-89D8-0532C750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196633-301D-4755-8A3B-3EA229B0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46002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C68211-5D4E-4D5E-BFFD-E6EE8F59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REPRESENTATIVE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951534-C358-423D-8D3E-3366A154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examples make the trend story understandable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94A265-2792-434D-AD75-5DEDD541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Each style is supported by a generated work, model label, visual evidence, and prompt starter.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5E2C9-1766-4035-8056-84D372DF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711d062264216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2305050"/>
            <a:ext cx="2324100" cy="2324100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916e16aace429d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86150" y="2305050"/>
            <a:ext cx="2324100" cy="2324100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17549fee74acb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48400" y="2305050"/>
            <a:ext cx="2324100" cy="2324100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0f3a9eb5e4911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10650" y="2305050"/>
            <a:ext cx="2324100" cy="2324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5FC7D0-C31C-442D-83DD-4A63B5AB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2324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Anime</a:t>
            </a:r>
          </a:p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emotion, character, color intensity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06FBA-17E8-4EA9-8B6D-BD01EFC7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762500"/>
            <a:ext cx="2324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Cinematic Storyboard</a:t>
            </a:r>
          </a:p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shot sequence and narrative pacing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B28FA4-F0AA-42C0-AF44-8ECB5857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62500"/>
            <a:ext cx="2324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Luxury Fashion</a:t>
            </a:r>
          </a:p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commercial editorial composition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54A6ED-1C52-4B31-B0CB-0A838D89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762500"/>
            <a:ext cx="2324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Surreal Editorial</a:t>
            </a:r>
          </a:p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metaphor and impossible scenes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8CA639-5297-45B1-8A0F-A4206058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BB9260-A0F3-41D2-8205-6A6B8850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446872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BD3174-A4B4-40AD-B0E5-9EFF6AED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AI TOOLCHAIN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AAA9C-9AA5-49B8-B808-0370CF14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dashboard replaces invented scores with factual capabilities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82306C-2326-4306-BE53-E5ECB907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Official source links support the comparison. The matrix is a workflow guide, not a universal quality ranking.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BB061-BDA1-46C6-9FDE-A2824BB5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7EC03-3C56-4FF0-9DA1-271DFF03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Tool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3DBB4-DE22-4DA4-9922-5CB4EED4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050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Best fit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9C4DA-E22E-4E13-8E71-7622B61E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0505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Text-to-image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11CBB-F81E-41C5-87CB-554B08AE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0505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Image editing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4C20F-ADAA-4CDC-A0E4-3B15C5A6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0505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Image-to-video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1329FE-0961-436F-A3B8-6C5E4331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4C8406-3425-4856-AF4F-BA0D4021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Midjourney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A5D496-54CC-49BB-8146-60215D3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003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ideation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93EA8B-8831-484D-ADBD-6CD1F3D7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9082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B8DBBA-298B-4F65-A7DA-8836A598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9082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D909B1-3086-44B0-9435-4887EFA1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9082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09497A-F6CE-481C-A849-4DA03AAD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6CAB38-8FCF-4A84-B6A7-72CBDCA6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OpenAI Images / DALL-E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055D3-9AAD-40AA-BE03-39E69B98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29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Instruction following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02D94E-6A6E-4DBA-87E3-6690996F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41947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92715-9FEC-4059-BF5D-5832809D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1947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B6B2F-A816-4258-93E7-1E7E3E17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1947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No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B179B2-4D32-4DA1-924F-FE6A0CDC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226C49-D999-46EF-8F34-270B0412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Stable Diffusion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26813E-9BF6-4EF3-B87F-02D3BF52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576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Open customization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7E52D3-0C10-4E37-BDDA-A36BC032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4812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D709F3-5AEE-4614-88FB-BA3CEE8C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4812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6DE640-8ECF-49D5-A5DC-B01498E0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4812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Ecosystem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D448EF-B768-41FF-B853-94CC6CC3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9105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2B978D-CB82-4F82-A2A0-D3A37A6C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Adobe Firefly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C3ACE8-1842-4E2F-8802-C86FBA15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Commercial workflows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AAE9B2-0B89-44DD-9299-6786374C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7677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6555E7-4976-4CDE-9454-C9173B67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7677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995A40-6730-45F0-8527-3823CE3D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7677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E83449-CC8F-4F20-BB45-2D937333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1FE15A-DB54-44F0-8A19-AEC28E6A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Runway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D3400F-702F-4CFF-9A93-65052D267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14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Motion/video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31B6E3-B7F1-4ADD-BBA0-169FD65D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0542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DDB26C-5257-4A4E-A964-A324F88F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0542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54AB16-FF44-4AFA-A09D-B3D9D786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305425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946C601-1656-46DC-A87B-7AC32DF1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5FED26-8B8D-49BC-BC57-2AB936C8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033267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CFAEE8-F45E-4488-8124-48589E2B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INTERACTION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202548-E341-4F82-8F67-43D576F5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dashboard is built to be explored live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876D8-C6DC-4AA6-AAB8-153830BD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Interactive controls make the project stronger for both demonstration and user learning.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292DD-5AB6-4372-94D5-B148D714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bce3775c14692"/>
          <a:stretch xmlns:a="http://schemas.openxmlformats.org/drawingml/2006/main"/>
        </p:blipFill>
        <p:spPr>
          <a:xfrm xmlns:a="http://schemas.openxmlformats.org/drawingml/2006/main">
            <a:off x="7568521" y="2238375"/>
            <a:ext cx="2522308" cy="2952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DC660B-183C-4CBB-8776-2EFBAB40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38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87E36-8FEC-4B4B-B051-CFC90702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B9D4C-F6DC-4EDF-9758-014AE00A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Linked filters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41CB4F-07B9-4A86-A822-EFC9DFD0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95600"/>
            <a:ext cx="2038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Style, year, and tool selections update charts, benchmark highlights, and keyword views.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6AF62E-12F6-43D0-A653-E0D3081C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38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40E61F-60D0-472F-A4D4-C256ECDC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8544F1-8FDB-4CDB-A96D-DA3967FD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Click drill-down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F19E84-D726-4F56-8DF4-807C01B2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95600"/>
            <a:ext cx="2038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Plotly selections reveal detailed keywords, style-year context, and representative image evidence.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DCE2D-7814-44DB-969B-F7C38BCF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38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E73301-B95F-44CD-82C4-A398CEC8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D79FC8-5E0A-4F07-BE08-9E37D72C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576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Random exploration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3E8D2B-F986-46F7-9817-380C4E19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19600"/>
            <a:ext cx="2038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 demo-friendly button selects a style/date combination and generates an insight prompt.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943A5-00AD-49F9-9313-3876D788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38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A06733-35DF-456D-9D43-2BE89610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9D72A6-53BE-4BD8-883E-163462E5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0576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Performance feedback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9A209-F21C-46BF-9C73-5D03AE29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19600"/>
            <a:ext cx="2038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st.cache_data and loading spinners reduce friction during repeated dashboard interaction.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A9805A-8336-4920-B442-E061E081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9AD371-7DF8-4456-80C5-FF8A71CD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736014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CB4180-3734-44E4-A425-5FA5ED8E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CREATIVE STRATEGY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C8D82-F093-40D3-B38A-C5FBF33E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site turns analysis into actionable creative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BFC37A-7A54-4A95-8F1D-364DE1E0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This is the main differentiator from a standard chart dashboard.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9B3ED-BE88-4CE3-B740-2ECEF0BD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22e06f69604e90"/>
          <a:stretch xmlns:a="http://schemas.openxmlformats.org/drawingml/2006/main"/>
        </p:blipFill>
        <p:spPr>
          <a:xfrm xmlns:a="http://schemas.openxmlformats.org/drawingml/2006/main">
            <a:off x="7473271" y="2209800"/>
            <a:ext cx="2522308" cy="2952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D0AB3-B4DA-427F-8E91-D73458F0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3BEAE-6123-404C-A1A7-E06B508D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1457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Use Case Recommendation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D11860-1336-4876-99C6-ECD17551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brand campaign, game concept, social visual, short film, product render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0D4D7F-8B0A-4A91-9A1C-AD3B1153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1A9F3-673F-48A9-9344-128F31D6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0512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Creative Direction Generator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E5A67-1762-4738-B170-20053E11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0515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copy-ready direction based on selected visual style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6AE980-2F97-463C-9312-D5F304A5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3DE570-7B00-453B-9CE3-E0FCAE5F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9567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Moodboard Preview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ED4D7-886D-43E0-8A12-88381CD9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visual collage driven by mood, color, and theme choices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7AE2A-A1B0-4778-B256-C1F4FC7B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E677BC-81C2-4899-AFB3-51F6FDE8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8622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Motion Preview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F76DA1-8BC7-431E-A7F1-E57944AE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GIF previews for cinematic, editorial, and luxury styles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955495-CC3D-4A35-B1A2-552938C4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83B113-178C-4AEF-B4E0-643A601D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7677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Linear Forecast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3E81BE-059C-453D-86D6-216653DC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next-7-days exploratory projection from the real short collection window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9268C-8724-409D-A5A2-84975128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D4473B-A44A-4A21-8ECD-77B58D4C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1999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451E1-D015-48AC-8FD5-E0B1CF50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88F4AE-1E30-4986-B07A-5FDA8F12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source code is organized for review and deployment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F95AD5-6549-4E27-9F35-BFDB46C0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implementation addresses performance, maintainability, and delivery requirements.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57F74-920A-47DC-B70E-84A6D3B1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6C8C5-FC72-4A0C-A038-067FD452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3238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59E91-C0CE-4E53-913F-D3E072E6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A8D205-BA7D-40D1-968B-415C0BDD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289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Core functions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32471-57BC-4688-8783-13B33D8B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895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load_data(), render_sidebar(), render_hero(), tab_trends(), tab_gallery(), tab_tools(), tab_keywords(), tab_strategy(), tab_references()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17E05-9774-408E-99EF-E648384C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81250"/>
            <a:ext cx="3238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904EB-5E21-47C2-8746-917CAFC8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8125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1F6C3-096E-4DA2-9A41-FFB7DF77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33650"/>
            <a:ext cx="289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Quality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5720A-6A2D-4D7D-BD21-EB623E1E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95600"/>
            <a:ext cx="2895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st.cache_data for CSV loading; try/except for missing files; normalized Plotly dark theme; local assets to avoid broken external image links.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061EA6-4C4F-4CBD-A554-46A9D29D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3238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95CF8D-D9B1-4E5E-B2A3-D9ABD941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56D198-444B-4E35-836B-831B40B3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33650"/>
            <a:ext cx="289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Delivery package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8D719B-815B-4015-AC1E-6FF70806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95600"/>
            <a:ext cx="2895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app.py, data/, assets/, requirements.txt, README.md, screenshots, presentation notes, and this PowerPoint deck are synced to GitHub.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4721F7-F209-413E-8B4E-EBEE2F98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Run command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CAD3FE-E51F-4E04-83FF-81A622B3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rPr>
              <a:t>streamlit run app.py</a:t>
            </a:r>
          </a:p>
          <a:p xmlns:a="http://schemas.openxmlformats.org/drawingml/2006/main">
            <a:pPr algn="l">
              <a:def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rPr>
              <a:t>streamlit run app.py --server.port 8510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AA3D30-7951-4631-81CB-7EC4AB0C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767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Repository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99E542-F8D0-4651-B2B1-780B8475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5775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github.com/hedan-skku/ai-visual-trend-dashboard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09DFF5-B3C1-4BBA-A7E7-D6C550F7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B29B87-3FEC-47AA-BCC3-1C188730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937971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0EB2EA-BE9B-4AC3-ADA8-44ACD882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A4A29-83B3-4B7B-8E66-326160A1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Three-step development plan and final delivery status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E9B3CB-E810-4465-94B4-0528AB14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final website follows the PRD roadmap from prototype to polished portfolio-ready dashboard.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EE137-1C42-48BA-93E7-85FB4E89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15B94-DD10-4719-BEEF-81FF8729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31908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053DF-1ABD-4A5B-A43F-919E21FE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3190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3D0DA-609B-4236-B405-8998ABEA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2847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Step 1: Basic Layout + Sample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88D334-E84E-4D70-922E-3FE5720C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847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Create Streamlit structure, sidebar, sample data, basic charts, title sections, and dark-theme layout.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E025F8-32EC-484F-8F6A-80E58B52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81250"/>
            <a:ext cx="31908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DD246-A353-4C2D-BC4C-A687ADAC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81250"/>
            <a:ext cx="3190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DA203E-AD63-4B49-9300-CB366078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33650"/>
            <a:ext cx="2847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Step 2: Charts + Interactivity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25FD3E-2ECC-43AF-ADB9-818A5D1B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95600"/>
            <a:ext cx="2847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Add advanced Plotly charts, filters, dropdowns, AI tool comparison, keyword trends, and improved UI layout.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D9328-0E60-430F-B593-376731ED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81250"/>
            <a:ext cx="31908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02AA7-2D03-4A76-AAEC-165FC5F3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81250"/>
            <a:ext cx="3190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285240-03CD-41DF-98B9-28C46FC0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33650"/>
            <a:ext cx="2847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Step 3: Polish + Data + Extras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ECDBD-CFCB-4E3F-9F70-3EBCC1A3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847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Add richer datasets, responsiveness, animations, performance optimization, final screenshots, and presentation assets.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EB850F-1D1A-492A-92A8-44A2413D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Final deliverables from PRD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EAD8E2-6886-4B61-8CD8-B591C751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Streamlit web dashboard: completed locally and prepared for Streamlit Cloud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GitHub repository: completed and synced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GitHub Pages portfolio site: identified as an optional next publishing step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PRD documentation: included in this presentation narrative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Final presentation screenshots: included in README and presentation assets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A6A6CE-407D-426E-B4D1-FD1F70C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0F3687-F602-4504-920D-C376E5FE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0818010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A7E755-31FB-4E84-825B-D51D5D27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D6B366-7799-4A75-AC45-2129E0BB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website presents AI visual trends as a complete research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D40E5-2E3E-4FC2-9357-4625F293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It connects PRD goals, data evidence, interface design, visual examples, and technical implementation.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5BEB72-65BC-481E-9D8B-C80D1AB4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700E01-D205-4DE9-A012-EE6220E2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9810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3568B4-1361-4E10-B38B-C9666DE9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Final argument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FEDF4B-301C-42DC-A4A7-AA44DAAC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861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AI visual culture is moving from static style imitation toward creative direction: narrative image-making, tool-aware production, and visual strategy. The dashboard makes that shift visible through data, examples, and interaction.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3E3DE8-9B81-4FAE-A8A6-33111535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863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Next steps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8EDAA9-5FE8-429C-9D66-82ABAF46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67300"/>
            <a:ext cx="7239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extend the real-data pipeline with a longer timestamped prompt source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deploy the app publicly on Streamlit Cloud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record a 1-2 minute demo video for README and final presentation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58411-04E8-4CFC-8BA6-15B66C2D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33400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67E61D-1904-4B88-8433-2C511CBC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D88A2C-7F5F-4D31-BD7C-2CCDF952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48268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2026-06-01T10:31:12.3090000Z</dcterms:created>
  <dcterms:modified xsi:type="dcterms:W3CDTF">2026-06-01T10:31:12.3090000Z</dcterms:modified>
</coreProperties>
</file>