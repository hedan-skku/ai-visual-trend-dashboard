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814106c50744c0" /><Relationship Type="http://schemas.openxmlformats.org/officeDocument/2006/relationships/extended-properties" Target="/docProps/app.xml" Id="Rdf5e866a4a384947" /><Relationship Type="http://schemas.openxmlformats.org/officeDocument/2006/relationships/officeDocument" Target="/ppt/presentation.xml" Id="R4c91eaeddb2549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18d400af234ed1"/>
  </p:sldMasterIdLst>
  <p:notesMasterIdLst>
    <p:notesMasterId xmlns:r="http://schemas.openxmlformats.org/officeDocument/2006/relationships" r:id="R0c6d0ce53c2f4e99"/>
  </p:notesMasterIdLst>
  <p:sldIdLst>
    <p:sldId xmlns:r="http://schemas.openxmlformats.org/officeDocument/2006/relationships" id="256" r:id="R6f8a48ff0d8b42e7"/>
    <p:sldId xmlns:r="http://schemas.openxmlformats.org/officeDocument/2006/relationships" id="257" r:id="Rbadf0fe750224c4e"/>
    <p:sldId xmlns:r="http://schemas.openxmlformats.org/officeDocument/2006/relationships" id="258" r:id="Ra666fa91a3a648b3"/>
    <p:sldId xmlns:r="http://schemas.openxmlformats.org/officeDocument/2006/relationships" id="259" r:id="Rb0bb903f60cf48a8"/>
    <p:sldId xmlns:r="http://schemas.openxmlformats.org/officeDocument/2006/relationships" id="260" r:id="Rd15d5a32f8a14f94"/>
    <p:sldId xmlns:r="http://schemas.openxmlformats.org/officeDocument/2006/relationships" id="261" r:id="R0ff4c2c310a0431a"/>
    <p:sldId xmlns:r="http://schemas.openxmlformats.org/officeDocument/2006/relationships" id="262" r:id="R2490742149f94180"/>
    <p:sldId xmlns:r="http://schemas.openxmlformats.org/officeDocument/2006/relationships" id="263" r:id="R11a034319afb4d17"/>
    <p:sldId xmlns:r="http://schemas.openxmlformats.org/officeDocument/2006/relationships" id="264" r:id="R3d304f0283b7413f"/>
    <p:sldId xmlns:r="http://schemas.openxmlformats.org/officeDocument/2006/relationships" id="265" r:id="R009b49bee6464a3e"/>
    <p:sldId xmlns:r="http://schemas.openxmlformats.org/officeDocument/2006/relationships" id="266" r:id="R7efca47a00644192"/>
    <p:sldId xmlns:r="http://schemas.openxmlformats.org/officeDocument/2006/relationships" id="267" r:id="Rdc706c2a38da4005"/>
    <p:sldId xmlns:r="http://schemas.openxmlformats.org/officeDocument/2006/relationships" id="268" r:id="R9171a960515c4b88"/>
    <p:sldId xmlns:r="http://schemas.openxmlformats.org/officeDocument/2006/relationships" id="269" r:id="Ra67ab466887a4272"/>
    <p:sldId xmlns:r="http://schemas.openxmlformats.org/officeDocument/2006/relationships" id="270" r:id="R76bb6e12324040c9"/>
    <p:sldId xmlns:r="http://schemas.openxmlformats.org/officeDocument/2006/relationships" id="271" r:id="R6bddf480c69b4dd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18d400af234ed1" /><Relationship Type="http://schemas.openxmlformats.org/officeDocument/2006/relationships/theme" Target="/ppt/theme/theme1.xml" Id="Rdf5b0fc9b14b4678" /><Relationship Type="http://schemas.openxmlformats.org/officeDocument/2006/relationships/notesMaster" Target="/ppt/notesMasters/notesMaster1.xml" Id="R0c6d0ce53c2f4e99" /><Relationship Type="http://schemas.openxmlformats.org/officeDocument/2006/relationships/presProps" Target="/ppt/presProps.xml" Id="Rd5c8b8d35f074c90" /><Relationship Type="http://schemas.openxmlformats.org/officeDocument/2006/relationships/viewProps" Target="/ppt/viewProps.xml" Id="Rd3071eccbb1b4333" /><Relationship Type="http://schemas.openxmlformats.org/officeDocument/2006/relationships/tableStyles" Target="/ppt/tableStyles.xml" Id="R6218523180394950" /><Relationship Type="http://schemas.openxmlformats.org/officeDocument/2006/relationships/slide" Target="/ppt/slides/slide1.xml" Id="R6f8a48ff0d8b42e7" /><Relationship Type="http://schemas.openxmlformats.org/officeDocument/2006/relationships/slide" Target="/ppt/slides/slide2.xml" Id="Rbadf0fe750224c4e" /><Relationship Type="http://schemas.openxmlformats.org/officeDocument/2006/relationships/slide" Target="/ppt/slides/slide3.xml" Id="Ra666fa91a3a648b3" /><Relationship Type="http://schemas.openxmlformats.org/officeDocument/2006/relationships/slide" Target="/ppt/slides/slide4.xml" Id="Rb0bb903f60cf48a8" /><Relationship Type="http://schemas.openxmlformats.org/officeDocument/2006/relationships/slide" Target="/ppt/slides/slide5.xml" Id="Rd15d5a32f8a14f94" /><Relationship Type="http://schemas.openxmlformats.org/officeDocument/2006/relationships/slide" Target="/ppt/slides/slide6.xml" Id="R0ff4c2c310a0431a" /><Relationship Type="http://schemas.openxmlformats.org/officeDocument/2006/relationships/slide" Target="/ppt/slides/slide7.xml" Id="R2490742149f94180" /><Relationship Type="http://schemas.openxmlformats.org/officeDocument/2006/relationships/slide" Target="/ppt/slides/slide8.xml" Id="R11a034319afb4d17" /><Relationship Type="http://schemas.openxmlformats.org/officeDocument/2006/relationships/slide" Target="/ppt/slides/slide9.xml" Id="R3d304f0283b7413f" /><Relationship Type="http://schemas.openxmlformats.org/officeDocument/2006/relationships/slide" Target="/ppt/slides/slide10.xml" Id="R009b49bee6464a3e" /><Relationship Type="http://schemas.openxmlformats.org/officeDocument/2006/relationships/slide" Target="/ppt/slides/slide11.xml" Id="R7efca47a00644192" /><Relationship Type="http://schemas.openxmlformats.org/officeDocument/2006/relationships/slide" Target="/ppt/slides/slide12.xml" Id="Rdc706c2a38da4005" /><Relationship Type="http://schemas.openxmlformats.org/officeDocument/2006/relationships/slide" Target="/ppt/slides/slide13.xml" Id="R9171a960515c4b88" /><Relationship Type="http://schemas.openxmlformats.org/officeDocument/2006/relationships/slide" Target="/ppt/slides/slide14.xml" Id="Ra67ab466887a4272" /><Relationship Type="http://schemas.openxmlformats.org/officeDocument/2006/relationships/slide" Target="/ppt/slides/slide15.xml" Id="R76bb6e12324040c9" /><Relationship Type="http://schemas.openxmlformats.org/officeDocument/2006/relationships/slide" Target="/ppt/slides/slide16.xml" Id="R6bddf480c69b4d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ffdc8151aa74f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23f2a9f1bb42f1" /><Relationship Type="http://schemas.openxmlformats.org/officeDocument/2006/relationships/notesMaster" Target="/ppt/notesMasters/notesMaster1.xml" Id="Ra3ff7abf49f443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6094bef00c45e1" /><Relationship Type="http://schemas.openxmlformats.org/officeDocument/2006/relationships/notesMaster" Target="/ppt/notesMasters/notesMaster1.xml" Id="R93c5fa50ec0144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b90cd452874977" /><Relationship Type="http://schemas.openxmlformats.org/officeDocument/2006/relationships/notesMaster" Target="/ppt/notesMasters/notesMaster1.xml" Id="R35c74925be6b4e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62b9e838c964ed4" /><Relationship Type="http://schemas.openxmlformats.org/officeDocument/2006/relationships/notesMaster" Target="/ppt/notesMasters/notesMaster1.xml" Id="R127019c18c9d44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0219598aea49c4" /><Relationship Type="http://schemas.openxmlformats.org/officeDocument/2006/relationships/notesMaster" Target="/ppt/notesMasters/notesMaster1.xml" Id="R7115d848096144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c22c46b489493c" /><Relationship Type="http://schemas.openxmlformats.org/officeDocument/2006/relationships/notesMaster" Target="/ppt/notesMasters/notesMaster1.xml" Id="R0450f7a8901040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8afb725d5f486b" /><Relationship Type="http://schemas.openxmlformats.org/officeDocument/2006/relationships/notesMaster" Target="/ppt/notesMasters/notesMaster1.xml" Id="Rb12fd5b75cc14f3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1e1ea5fb9c4d0b" /><Relationship Type="http://schemas.openxmlformats.org/officeDocument/2006/relationships/notesMaster" Target="/ppt/notesMasters/notesMaster1.xml" Id="R074697a6dd3d433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d4fb387a7104ab7" /><Relationship Type="http://schemas.openxmlformats.org/officeDocument/2006/relationships/notesMaster" Target="/ppt/notesMasters/notesMaster1.xml" Id="R048dfef9aa3e471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bed471f05b24442" /><Relationship Type="http://schemas.openxmlformats.org/officeDocument/2006/relationships/notesMaster" Target="/ppt/notesMasters/notesMaster1.xml" Id="Rb405a682868942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a5b1e501cd4513" /><Relationship Type="http://schemas.openxmlformats.org/officeDocument/2006/relationships/notesMaster" Target="/ppt/notesMasters/notesMaster1.xml" Id="Ra1c54bbf1a60444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d2f8f5c50a484f" /><Relationship Type="http://schemas.openxmlformats.org/officeDocument/2006/relationships/notesMaster" Target="/ppt/notesMasters/notesMaster1.xml" Id="Rd6af5023883d4b3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e2bda78333d4403" /><Relationship Type="http://schemas.openxmlformats.org/officeDocument/2006/relationships/notesMaster" Target="/ppt/notesMasters/notesMaster1.xml" Id="Rf0589cb7f38e46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61adfbd0afc46e0" /><Relationship Type="http://schemas.openxmlformats.org/officeDocument/2006/relationships/notesMaster" Target="/ppt/notesMasters/notesMaster1.xml" Id="R2a5bfe4171604d7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055d237be0d4643" /><Relationship Type="http://schemas.openxmlformats.org/officeDocument/2006/relationships/notesMaster" Target="/ppt/notesMasters/notesMaster1.xml" Id="R58df39ca1e314e0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f4b6e12ed174bd1" /><Relationship Type="http://schemas.openxmlformats.org/officeDocument/2006/relationships/notesMaster" Target="/ppt/notesMasters/notesMaster1.xml" Id="Ref537b9b4aeb49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14f037ea44419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8d500a52a2b49bd" /><Relationship Type="http://schemas.openxmlformats.org/officeDocument/2006/relationships/slideLayout" Target="/ppt/slideLayouts/slideLayout2.xml" Id="R7562d37fb0f345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62d37fb0f345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7096634bf04131" /><Relationship Type="http://schemas.openxmlformats.org/officeDocument/2006/relationships/image" Target="/ppt/media/image.jpeg" Id="R5db4638096254329" /><Relationship Type="http://schemas.openxmlformats.org/officeDocument/2006/relationships/notesSlide" Target="/ppt/notesSlides/notesSlide1.xml" Id="Re8ccd7ebaf6b4d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3f38ee1e574ffb" /><Relationship Type="http://schemas.openxmlformats.org/officeDocument/2006/relationships/notesSlide" Target="/ppt/notesSlides/notesSlide2.xml" Id="R229696ca4e5b49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6d5133fe62409a" /><Relationship Type="http://schemas.openxmlformats.org/officeDocument/2006/relationships/notesSlide" Target="/ppt/notesSlides/notesSlide3.xml" Id="R739a9ecaf1d249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b3970952ae4a84" /><Relationship Type="http://schemas.openxmlformats.org/officeDocument/2006/relationships/notesSlide" Target="/ppt/notesSlides/notesSlide4.xml" Id="R8653ee4fee8e46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f0bfaa10ae4c38" /><Relationship Type="http://schemas.openxmlformats.org/officeDocument/2006/relationships/notesSlide" Target="/ppt/notesSlides/notesSlide5.xml" Id="R17c27c8f24874c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de50652997439d" /><Relationship Type="http://schemas.openxmlformats.org/officeDocument/2006/relationships/notesSlide" Target="/ppt/notesSlides/notesSlide6.xml" Id="R9525b21a43894f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e1c4657f554421" /><Relationship Type="http://schemas.openxmlformats.org/officeDocument/2006/relationships/image" Target="/ppt/media/image2.jpeg" Id="Re21bf16f597d4244" /><Relationship Type="http://schemas.openxmlformats.org/officeDocument/2006/relationships/notesSlide" Target="/ppt/notesSlides/notesSlide7.xml" Id="R5e1378d5def44de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c3d483d21f4bb9" /><Relationship Type="http://schemas.openxmlformats.org/officeDocument/2006/relationships/notesSlide" Target="/ppt/notesSlides/notesSlide8.xml" Id="Rb76d25d3e4cd4c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dd6d02b3334db7" /><Relationship Type="http://schemas.openxmlformats.org/officeDocument/2006/relationships/notesSlide" Target="/ppt/notesSlides/notesSlide9.xml" Id="Rdb2ad65a36934e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859bdcfdf94b67" /><Relationship Type="http://schemas.openxmlformats.org/officeDocument/2006/relationships/image" Target="/ppt/media/image.png" Id="R022fda78eedd4225" /><Relationship Type="http://schemas.openxmlformats.org/officeDocument/2006/relationships/image" Target="/ppt/media/image2.png" Id="Rfc3fa22ee51d4b8e" /><Relationship Type="http://schemas.openxmlformats.org/officeDocument/2006/relationships/image" Target="/ppt/media/image3.png" Id="R9f2728a67e414424" /><Relationship Type="http://schemas.openxmlformats.org/officeDocument/2006/relationships/image" Target="/ppt/media/image4.png" Id="R6ffb49b79b3147cc" /><Relationship Type="http://schemas.openxmlformats.org/officeDocument/2006/relationships/notesSlide" Target="/ppt/notesSlides/notesSlide10.xml" Id="Re15e18ccb5df40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f9b91f11b84b03" /><Relationship Type="http://schemas.openxmlformats.org/officeDocument/2006/relationships/notesSlide" Target="/ppt/notesSlides/notesSlide11.xml" Id="R4b691277701448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caeff9bea74319" /><Relationship Type="http://schemas.openxmlformats.org/officeDocument/2006/relationships/image" Target="/ppt/media/image3.jpeg" Id="Raf6cfc70bead48b5" /><Relationship Type="http://schemas.openxmlformats.org/officeDocument/2006/relationships/notesSlide" Target="/ppt/notesSlides/notesSlide12.xml" Id="R0bda31cc779d428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450d4911a44b94" /><Relationship Type="http://schemas.openxmlformats.org/officeDocument/2006/relationships/image" Target="/ppt/media/image4.jpeg" Id="R6574541b63fa4bb6" /><Relationship Type="http://schemas.openxmlformats.org/officeDocument/2006/relationships/notesSlide" Target="/ppt/notesSlides/notesSlide13.xml" Id="Rcd825ed680af4ad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50019c95a3436e" /><Relationship Type="http://schemas.openxmlformats.org/officeDocument/2006/relationships/notesSlide" Target="/ppt/notesSlides/notesSlide14.xml" Id="R9e522eb16a4a47b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572269f2464d9b" /><Relationship Type="http://schemas.openxmlformats.org/officeDocument/2006/relationships/notesSlide" Target="/ppt/notesSlides/notesSlide15.xml" Id="R9905db47b3744ff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957fc6385944e0" /><Relationship Type="http://schemas.openxmlformats.org/officeDocument/2006/relationships/notesSlide" Target="/ppt/notesSlides/notesSlide16.xml" Id="Rfe6e5aaec24c4d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1A9A21-6810-464E-970F-39F3C553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14350"/>
            <a:ext cx="52197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b4638096254329"/>
          <a:stretch xmlns:a="http://schemas.openxmlformats.org/drawingml/2006/main"/>
        </p:blipFill>
        <p:spPr>
          <a:xfrm xmlns:a="http://schemas.openxmlformats.org/drawingml/2006/main">
            <a:off x="7157531" y="685800"/>
            <a:ext cx="3287137" cy="3848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75220B-FF70-4C17-BA79-1E483A18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76800"/>
            <a:ext cx="5219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8B91B6-2ABD-4707-AF1C-F395806F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6096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BC0B48-F9F2-40D9-A485-E48C0EDE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95450"/>
            <a:ext cx="5334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8C98A"/>
                </a:solidFill>
                <a:latin typeface="Arial"/>
                <a:ea typeface="Arial"/>
                <a:cs typeface="Arial"/>
              </a:rPr>
              <a:t>A data-driven research dashboard for AI-generated visual culture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D7A53A-FD2D-432B-AAF6-8F2D4321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19400"/>
            <a:ext cx="52863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Prompt trend analytics, tool benchmarking, representative works, and creative strategy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Designed as a Data Hub Dashboard with interactive exploration and visual evidence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Built with Streamlit, Pandas, Plotly, scikit-learn-style forecasting, and local AI assets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0706D-2C37-4740-97B6-E6263CCF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62500"/>
            <a:ext cx="4171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22"/>
          </a:solidFill>
          <a:ln xmlns:a="http://schemas.openxmlformats.org/drawingml/2006/main" w="9525">
            <a:solidFill>
              <a:srgbClr val="39D6C9"/>
            </a:solidFill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Presentation focus: PRD alignment + full website walkthrough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CA8E0F-A4EA-49BA-AB4B-F5B93372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3FE58D-CBE7-432F-8905-C3CDE996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648152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9CEE5A-80D9-4C78-8CAC-37F7A1E9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PRD FRAMEWORK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C202C7-2EFF-4C59-95B6-899E6A49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5W1H defines the product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65648-2D71-4F12-BE2B-236E4386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project starts from a clear product requirement document and turns it into a working Streamlit dashboard.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1AA9B-A9C6-400E-A785-BEDEB750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DE02B2-C6BE-4042-B76C-5CDD11AB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4E3A3D-EAA5-444B-A7E4-F8BF2F62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333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00B48-0990-4A82-B9E9-3BD5BADB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14600"/>
            <a:ext cx="2990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Why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B4A92-9E4A-4AC4-9F17-DE04BB62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2990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Explore trends in AI-generated visual content, creative advertising styles, film production, and creative technology.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1C4A0D-84B5-486B-A851-C1D24608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3148D-77BD-4EF3-A860-3B828862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3333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098131-4635-4E2F-B096-382283E0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14600"/>
            <a:ext cx="2990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Who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164146-A003-45D0-A8B6-F412C2633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76550"/>
            <a:ext cx="2990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Students, creators, designers, marketers, and people interested in AI-generated visual content.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087A7F-EAAF-4786-859E-25091780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6220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5FE8DB-8AFD-4C91-8D64-435EAB10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62200"/>
            <a:ext cx="3333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012B7D-6430-4408-BE8A-8B3C5D4D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14600"/>
            <a:ext cx="2990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What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6D0E1C-6EF8-4A6D-9586-D2415B603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76550"/>
            <a:ext cx="2990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Trend charts, style comparison, keyword analysis, AI tool comparison, filters, data tables, metrics, and insights.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3BD0A0-722B-41E6-B712-BE5C8C09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101CFB-DEEE-44EA-B700-70B9E3FD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3333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C766E1-B80E-4447-B26A-E8FFBD66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2990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When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D14534-F674-464C-ADD5-9538E670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2990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Used for researching visual trends, finding creative inspiration, analyzing AI content, and comparing design directions.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953490-3A07-4D17-B0BC-134F5B44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8BCD48-47C0-4F38-BFD5-ED753F09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333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B8D4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61012F-EF83-46FC-AF99-4C656168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990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EB8D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EB8D4"/>
                </a:solidFill>
                <a:latin typeface="Arial"/>
                <a:ea typeface="Arial"/>
                <a:cs typeface="Arial"/>
              </a:rPr>
              <a:t>Where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A39E7F-31AE-487F-A4D5-D6A34A66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57700"/>
            <a:ext cx="2990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 Streamlit web application prepared for GitHub and Streamlit Cloud deployment.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DF63E5-8B56-4984-AF17-90EBFB26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4335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DD4063-7511-4F1B-8E3C-9BAC6471D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43350"/>
            <a:ext cx="3333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38F7D5-F8CF-4B43-AE14-EAB9961E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95750"/>
            <a:ext cx="2990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8B6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8B6A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227AEA-4655-4DD7-A63E-964051E3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57700"/>
            <a:ext cx="2990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Python, Streamlit, Pandas, Plotly, AI-assisted coding, GitHub, and Streamlit Cloud.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ED0FEB-3CE8-47FD-B606-9FFCEBFF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7BF4DF-ADE1-4B90-9B9E-2AD6D797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129210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CFA983-E4AB-4CF7-9D9B-782A168D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PRD ALIGNMENT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5BEC0-F81A-4162-8E7E-07464EBBF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Target users and jobs to be done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F23EE6-73F3-4E55-8062-E25512EC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website supports both analytical review and creative decision-making.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15CFA5-8EE1-4277-BCFA-A6A019B1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6ED3F-71DC-450A-9F57-CE7EAAEF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247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C5738-BAED-42C8-B784-FD8915D3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F9B4A2-4DDE-40FD-B0D0-90E248FA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Design Students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CE80A7-4706-499A-8614-8208649E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21336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Need a clear explanation of AI visual trends, datasets, tools, and project methodology for learning and presentation.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2A542E-4602-4216-AC5E-91E6F332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00300"/>
            <a:ext cx="247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BFA483-A794-47D7-BBD9-17E48E0F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003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D12E0-A91D-4AE1-90DB-09183850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527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Digital Creators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AF961-C027-4E92-8D4A-8F92CCA8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14650"/>
            <a:ext cx="21336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Need style inspiration, prompt starters, moodboard directions, and representative images for faster concept exploration.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2DC5BB-4A7A-4408-9E8D-26EC3CB7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00300"/>
            <a:ext cx="247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1F5543-06C0-4840-BFCC-64B7FC9B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003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DF131D-E810-41C0-B144-0D1B642C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527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Art Directors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839F54-0635-49D6-AC23-551E0329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14650"/>
            <a:ext cx="21336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Need tool comparison, visual evidence, and use-case recommendations for production planning and team discussion.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E66935-0649-44B3-A991-CCBADF88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00300"/>
            <a:ext cx="247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B49D84-136E-4BE0-A094-A5025384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003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1770B2-488A-4930-A164-6F5C90D1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5527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Evaluators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9FAEC2-90E6-4919-B6CC-2AC0C6B5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914650"/>
            <a:ext cx="21336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Need to see data credibility, interaction depth, code organization, visual quality, and final delivery readiness.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E9EB9B-B1FA-4B2B-B28B-C76A9B6F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Primary user journey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BB5E4D-4C76-40EE-A4C3-022C0443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933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Start with top metrics and the AI toolchain snapshot</a:t>
            </a:r>
          </a:p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Filter by style, year, and tool to explore trend patterns</a:t>
            </a:r>
          </a:p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Open representative works to understand the visual meaning behind the data</a:t>
            </a:r>
          </a:p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Use recommendations, moodboard, and forecast to form a creative direction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79AC41-2545-4B2D-AA37-20CFEF5E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AA576D-095D-4988-AFF6-F73A5885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94728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5CF401-5679-4AD7-8C7B-4BE0EFD7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PRD ALIGNMENT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F8F900-B11A-4FCC-86F3-2CAF6F18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Requirement coverage matrix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02E528-D012-49A3-BBC4-0F9AD14A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deck maps the website directly against the requested project expectations.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85EBA7-4E1D-4358-8C0E-2256AFA8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B88F53-BE0E-46BE-B68F-C9C38F5B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95B4D-6AEB-43CA-876E-042CB947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Requirement Area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34B3A5-1C08-448A-B007-417A1E87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33625"/>
            <a:ext cx="419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634D1D-949A-4CC7-80E9-F3E7F0F1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00300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E8C98A"/>
                </a:solidFill>
                <a:latin typeface="Arial"/>
                <a:ea typeface="Arial"/>
                <a:cs typeface="Arial"/>
              </a:rPr>
              <a:t>What the website includes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91934B-4FA6-4D24-ABB8-C0B7B446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33625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9B42CF-F385-4862-B3DC-D0877B86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0300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E8C98A"/>
                </a:solidFill>
                <a:latin typeface="Arial"/>
                <a:ea typeface="Arial"/>
                <a:cs typeface="Arial"/>
              </a:rPr>
              <a:t>Evidence in the project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5F97EE-A1BB-43A5-81AB-E2B93332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CE0C3-31B9-4DD8-B160-C9923B42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Data credibility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558ADA-ACE9-4164-B377-4D6CC305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57500"/>
            <a:ext cx="419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2156DD-7568-4165-9465-BA0EE255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24175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CSV datasets, 22,050 prompt signals, data source notes, cleaning method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6F6B82-623F-4E7C-A432-7ACFB2A40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575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922C28-841C-4270-90F0-14C17DCD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24175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Home metrics, README, data folder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0A7EB0-3315-4997-9B6A-3EEBEB17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6B174D-D32D-41B3-A0CD-87A99A5F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Interaction depth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C07975-CAB1-418E-9599-5BF0E016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314700"/>
            <a:ext cx="419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CDD316-D5B9-4814-981C-7DC814C4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81375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Sidebar filters, chart drill-down, selected-tool linking, random exploration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62FC36-5FEA-4CA7-986D-7E24BB5D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147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80ABA1-7203-425D-B36E-B6377133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81375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Trend Analytics, Tool Benchmarks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118758-37E5-403F-9994-7C5BB881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3A015E-F726-4F5F-BD5F-C97EC02E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Visual evidence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A0629C-CE73-4EFB-940E-6BFFD2DD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71900"/>
            <a:ext cx="419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8B39E7-27AD-48EE-B751-8AF06A00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38575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Representative generated works, model labels, visual evidence captions, motion previews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CDE0A4-07D5-4D6B-921C-1BBCD5A1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719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BBBB7D-1E4F-4D90-892D-2BE22085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38575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Representative Works, Creative Strategy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3575B7-4F55-4C49-ACF5-E39ED7FD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AF5980-7352-42B6-981E-009E4607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Technical quality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20F9A0-9E95-4ECE-A5E1-597D4BED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29100"/>
            <a:ext cx="419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33CE48-EE6D-4801-ABC9-13A8E163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95775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Modular functions, cache, error handling, requirements file, deployment notes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4F649F-32F5-4B0A-8043-35838BFD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2291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818668-289B-4141-93FA-AD3F440F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95775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app.py, README, requirements.txt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A735AE-BB1D-4BF5-BBCF-253B1B85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62EBC4-A1E1-422E-A5C5-AEB0A1CC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Presentation readiness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14ED37B-A65D-4C87-8EEC-A407E826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686300"/>
            <a:ext cx="4191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348DED-7D8B-4E2A-BB3B-92A227C1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52975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Screenshots, speaker notes, GitHub sync, PPT delivery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5B5ECB7-DC63-4EDA-ABF8-161E5328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863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E456B1-3BCE-4E1F-B8A4-74652FD4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752975"/>
            <a:ext cx="3752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README, PPT deck, project repo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460112-C3CD-4515-99C3-F1D28B51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187A97-AB3E-4A82-A9E9-BCC4A9EE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869951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18ECF3-5A19-4F18-94D3-442D51C6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PRD FEATURE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DDBF78-D6C4-49F2-8628-E41AD752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Main features translated into website modules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45E992-ACF3-450F-865C-38FB4DB8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Each required feature from the PRD is represented by a concrete section or interaction in the final dashboard.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A4668-B069-472D-A10F-8DAD7E4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5B02FC-E92A-419E-B8B6-8669C11C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173FC9-8C2D-4064-A9A0-02D76B94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479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PRD Feature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3B5738-7A13-4439-8091-5A02E5E9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812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B6091C-8707-4A68-A8EE-42005F4D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47925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E8C98A"/>
                </a:solidFill>
                <a:latin typeface="Arial"/>
                <a:ea typeface="Arial"/>
                <a:cs typeface="Arial"/>
              </a:rPr>
              <a:t>Dashboard Implementation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5BD8D1-44DA-4F3C-92B6-557ABA99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812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B28F7A-AF0D-4B27-9C77-3307F937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47925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E8C98A"/>
                </a:solidFill>
                <a:latin typeface="Arial"/>
                <a:ea typeface="Arial"/>
                <a:cs typeface="Arial"/>
              </a:rPr>
              <a:t>Where It Appears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CEE7EA-0269-47D9-B04C-B9E5AF33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2D1A6B-41DC-42BD-8987-002ECEEC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Visual Trend Analysis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C8AE19-9729-4648-88A9-197B8600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337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F00D49-3FF6-40B3-8402-F1E4470E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000375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Line and bar charts for AI visual style changes over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E7399D-5B6A-459B-ADCD-22E6E941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337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3D539A-3E96-4066-87AF-D498CD69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00375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Trend Analytics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4D3C17-93F2-4D93-8E5A-AC7B53D0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976AB8-970A-42DC-A0C5-3E134E5A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528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AI Tool Comparison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BCCD19-D40A-4902-879E-70E4B8B8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4861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281F86-7417-43CA-B2F6-DBDFC07F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552825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Radar and benchmark views for Midjourney, DALL-E, Stable Diffusion, Adobe Firefly, and Runway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376053-B4AB-4437-A243-54BCA3279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4861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B9977B-A030-48FE-902B-F9AB9FA5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52825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Tool Benchmarks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608C39-D75B-480B-8F42-952D841B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962929-1877-4660-93F0-216A7382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0527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Keyword Trend Dashboard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EC5424-51F5-4A92-AAE0-AAB3696B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386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98F264-629C-4D94-9396-E1C53403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105275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Frequency, growth, and tool-linked keyword exploration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52B1E9-F887-487F-8C04-17C54CD1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386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91A3CC-C11C-4356-A94B-F93D9D0B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105275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Keyword Insights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13E11E-A2D1-4D54-ADA7-F131EEFF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910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0D6349-539F-4A0F-A662-CE2B834A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577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Interactive Filters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7C8C9B-EFDF-47BF-906F-28078DEC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910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8440E7-C6EF-4207-B710-817CA12E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57725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Year, style category, AI tool, and benchmark priority controls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D37EDE-AC72-4318-8AEB-C1AA0D8F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591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A2D84E-CA8F-4D99-B1B8-C4F8EDCA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57725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Sidebar + chart drill-down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9B993C-4E1F-47E6-9D87-1F26E2CE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B77DC8-EF5C-4B21-9B4D-4D74F54E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017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Dashboard Metrics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624A42A-3569-46CF-9FC9-6FD83B54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1435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3EBC32-67AA-4094-8F72-1D90201D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210175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Most popular style, fastest growth, top tool, and total prompt signals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4513ED-78E9-44E6-90F3-6E2CC024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1435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1A352F8-DD2F-4AC2-A061-2F66197A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210175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Home hero metrics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B5AF50-2C12-43DE-8E44-0BF9B09B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3238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Additional polish beyond the PRD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C80BD6B-2F48-4F81-A744-76CA8D37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905500"/>
            <a:ext cx="676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Representative works, creative direction generator, moodboard preview, motion preview, real-world references, and exploratory forecasting.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EF94650-8FB5-4623-9D03-124D0AE7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F054222-4779-454A-9DF2-8DADF85A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023536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A7B6C5-658A-4F97-B336-0B66FE61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WEBSITE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602615-0887-468C-8672-9557130D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 full dashboard system with six content areas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53A1EB-DFE4-4234-9FBD-8841AC38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site structure was designed to move from overview, to evidence, to creative application.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7DAC5A-8120-498C-9B39-CE5F5831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33644E-C678-4D73-9EC4-78DC3156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BD09D-5E25-4C91-87EE-8557162E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E4D8F-0BFB-4A97-85A5-C11BA820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0985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Home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FB0B2-DB26-4D3A-B2FE-E4FD7FD2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7180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hero metrics, data volume, toolchain snapshot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3A1DF1-36CD-496A-80DC-4FE9F20B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45745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53A706-40EA-4492-82F2-E5197B77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45745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FF5F73-827F-4F1A-987C-25C669EF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60985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Trend Analytics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88AA6-842A-42FE-BD46-D6895D53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97180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style/year trends and click drill-down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D584B-ABF8-42D1-A522-F329F4C2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5745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1E75F6-BF38-4B63-ADF7-9A802CE4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5745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3E5645-AFA1-44F4-981B-4A960CB3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0985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Representative Works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2FB538-4E6E-4B29-B24D-649516D3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7180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image examples and visual 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86500C-12CF-49B8-8291-7D816B23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45745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BADC7B-E8D5-4913-818C-9E53216B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45745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76BAC9-B26C-4CBA-B526-EE4AB735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60985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Tool Benchmarks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16E314-A9EC-4238-B91F-A85DA54E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97180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radar comparison and tool fit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143736-EA95-4074-9C80-D3150724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98B689-A572-41BA-BB6E-5EFE8D0D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29258E-3A4A-47A7-80AA-609BE6EA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3860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8B6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8B6A"/>
                </a:solidFill>
                <a:latin typeface="Arial"/>
                <a:ea typeface="Arial"/>
                <a:cs typeface="Arial"/>
              </a:rPr>
              <a:t>Keyword Insights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8A76B7-6A58-4992-A7B7-D96D1059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0055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tool-linked keyword and growth signals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50689D-4370-42B9-98AF-BD998610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388620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7F37F5-4982-4DF2-A588-1FA33DA2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388620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B8D4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3A076E-720A-4273-BF0C-C4CC12F7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3860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EB8D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EB8D4"/>
                </a:solidFill>
                <a:latin typeface="Arial"/>
                <a:ea typeface="Arial"/>
                <a:cs typeface="Arial"/>
              </a:rPr>
              <a:t>Creative Strategy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6BC2D7-87FB-4EA1-993B-53A89C78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40055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recommendations, moodboard, motion preview, forecast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D5EF5A-3FAE-4065-BED5-50249D04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86200"/>
            <a:ext cx="2333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15C024-D568-403B-8E8D-5EE3FCF3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86200"/>
            <a:ext cx="2333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504206-EE0A-41DA-A33C-06F28989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38600"/>
            <a:ext cx="19907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Real References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731D3B-193F-4FEC-8504-935FFB5C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00550"/>
            <a:ext cx="19907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official links and trend context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F4D48B-E4D5-4A47-A428-385CCB05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Design logic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DF2A5D-C8C0-4097-A2EB-3FBEF48B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2925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dashboard does not end at charts. It converts trend data into visual understanding, tool choice, and creative direction.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FB443A-2071-4311-88B7-03FE213B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CCA6A8-EEAF-4A8B-8990-5A7943D1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368167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F3D1C3-FB04-455E-8C74-ABE39098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UI DESIGN DIRECTION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4A759C-CF97-4D35-A759-60872F73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 modern dark dashboard with AI-themed visual cues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706EF6-A0FE-49AF-BD1D-B8BDFBDC9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visual system follows the PRD direction while keeping the interface readable for data exploration.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C416DA-4F16-4C64-B0EA-894A54FC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bf16f597d4244"/>
          <a:stretch xmlns:a="http://schemas.openxmlformats.org/drawingml/2006/main"/>
        </p:blipFill>
        <p:spPr>
          <a:xfrm xmlns:a="http://schemas.openxmlformats.org/drawingml/2006/main">
            <a:off x="7508788" y="2247900"/>
            <a:ext cx="2603673" cy="3048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B13751-3B56-47A1-BF56-3724054A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238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BD919E-0155-4424-A67C-D0AC9A3A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F9746A-E111-45D3-A109-3C21C8D6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Dark UI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97687-623C-4025-AA6B-BE8886B8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2038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background uses a deep dashboard theme to make charts, metrics, and images feel unified.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88570F-DCB2-49C3-AFDD-D7FF137D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62200"/>
            <a:ext cx="238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CD52C5-2E5D-4491-BD12-2A3A0D8B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6220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2C1DB3-8D6C-402C-A055-8531EB3C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51460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Neon accents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207E04-95C3-4424-AB87-C89E18BF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876550"/>
            <a:ext cx="2038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Cyan, gold, green, coral, and violet accents are used for emphasis, not decoration overload.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ED97C3-4C43-475A-A610-6FF25A77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238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94C18D-1920-4C6B-8860-A57660C0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C7AB15-C8D4-433A-8022-5E98BD31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Sidebar navigation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84BE96-B022-4A85-9992-5423804B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33900"/>
            <a:ext cx="2038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Filters and page navigation are grouped to support repeated exploration.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5BF394-AAFA-4A1E-83B7-B8D988B1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19550"/>
            <a:ext cx="238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E7A586-FF2E-49A0-AF2A-B8240F36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1955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8CA338-A67E-42C7-A385-259FDE4D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719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Responsive layout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086204-372C-41EA-8A23-C6D2CB65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533900"/>
            <a:ext cx="2038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Wide chart areas, compact metrics, and local image assets help the dashboard adapt for presentation and review.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CCE749-E18A-4069-B7F6-8AE0C90D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56CDB9-9096-46EB-BA94-30EF09CD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890077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AE3166-B041-47E2-ADBF-2CC648E8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DATA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A07C87-8307-4814-964E-05D3A931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dataset is structured for credibility and replacement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0EC430-02B5-4C3A-8080-6470E084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current data is self-contained for demonstration, while preserving a real-data workflow.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D1B85D-F203-4D81-9A0D-0091F3DF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EAE6F3-0C73-43FE-86A8-B3DD0533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8DC61F-7DDB-48E5-99E6-C54037F6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19907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22,050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91114-C28B-4FCA-888E-7FC3ABD9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71800"/>
            <a:ext cx="19907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structured prompt signals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2F8F41-33F0-44D7-9AE0-228EF265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381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FA79AA-92C2-4119-8926-5A656363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33650"/>
            <a:ext cx="19907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2020-2024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A3EF0A-67C7-436B-9E29-187ADD1D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71800"/>
            <a:ext cx="19907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historical analysis window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55F949-D3B0-4B4E-B664-D20BA4AA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428DA8-E09E-4B56-BA7B-F391B90E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533650"/>
            <a:ext cx="19907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A933B4-8EF5-4251-969C-1EF79C39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71800"/>
            <a:ext cx="19907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tracked visual styles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E15440-2B76-452C-9BCB-5A176166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81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A47FCB-8F62-49E1-A314-EF9CF9D6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33650"/>
            <a:ext cx="19907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4 CSVs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A14221-3032-49B1-A0A5-2A985030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71800"/>
            <a:ext cx="19907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data files powering the 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360C70-72F3-400E-A08A-8BA5C9A7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3ACF7B-38D0-4741-9E34-8295A9B1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342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FEBC28-6D1F-4841-9D49-1AE91A53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52900"/>
            <a:ext cx="3086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Data files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78FFB9-EB1E-4C85-A3D9-7E244378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14850"/>
            <a:ext cx="3086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prompt_trend_signals.csv</a:t>
            </a:r>
          </a:p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tool_benchmarks.csv</a:t>
            </a:r>
          </a:p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representative_works.csv</a:t>
            </a:r>
          </a:p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real_world_references.csv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88D72A-DCD1-4756-9B76-451A4ABB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00500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3C6D4B-A870-4464-9763-0AB14D01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00500"/>
            <a:ext cx="342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9752F3-84EA-4879-91DD-31F76B92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152900"/>
            <a:ext cx="3086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Cleaning and aggregation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DCAAF9-4804-41D0-B34E-F9B0BCB3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514850"/>
            <a:ext cx="3086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Duplicate keyword groups removed; unsafe categories excluded; style labels normalized; records grouped by year, style, tool, keyword, and intent.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991C0D-CF7B-4530-95C2-E0CE129D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00500"/>
            <a:ext cx="2476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E9FEED-857A-4984-9E06-F8203F56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00500"/>
            <a:ext cx="247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993AA0-289F-42CD-8F6A-9E629987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52900"/>
            <a:ext cx="2133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8B6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8B6A"/>
                </a:solidFill>
                <a:latin typeface="Arial"/>
                <a:ea typeface="Arial"/>
                <a:cs typeface="Arial"/>
              </a:rPr>
              <a:t>Honest limitation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906D1F-AC5A-4347-B314-81895663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14850"/>
            <a:ext cx="2133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included dataset is semi-real for demonstration. The strongest upgrade is replacing it with a full Kaggle Stable Diffusion prompt export using the same schema.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EB36E5-A280-45D9-B2FD-339CC6A7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400E88-4AD4-40F6-9BBE-61B0E2EF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338523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CAABB3-07F9-4CA7-941A-CA4BD42F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TREND ANALYTICS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6A8FD-85DB-475D-A59B-E83B8CB9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2024 style signals show both popularity and creative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F648E-3BF6-4AA8-BD17-A90ECB8C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Anime leads the sample volume, while AI Cinematic Storyboard reveals the move toward narrative and video-oriented image-making.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27DA7-5821-459F-AE32-FA100FA0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4A5E35-23C6-4ADF-AF76-7EFD38DA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21907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Anime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34E153-1039-4A6D-8F45-15D43CE3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19350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5D9CB6-FE2F-4907-BA35-D9B8A112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19350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1A343B-C1F2-420C-860C-29A2227A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00300"/>
            <a:ext cx="5524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950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133C97-671B-406A-81A5-131F74C5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92425"/>
            <a:ext cx="21907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AI Cinematic Storyboard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9D8798-1AE6-4DFA-A7EE-217DBE93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11475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6DB314-87DF-41EB-9014-DEE0AC14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11475"/>
            <a:ext cx="2638525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849E4-8EFB-4D6B-A5BF-72040CBE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92425"/>
            <a:ext cx="5524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2B1470-0D69-4C60-BF31-5F71898A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84550"/>
            <a:ext cx="21907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Cyberpunk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3E0795-6898-4649-8AA2-53CD1545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03600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0EDB25-4891-4B94-B725-3FA9EB3E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03600"/>
            <a:ext cx="2515803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97F418-42FC-45C6-AD98-5604365B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84550"/>
            <a:ext cx="5524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820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7226E2-D885-41D7-B25F-9D1D04EC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76675"/>
            <a:ext cx="21907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Luxury Fashion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C748AB-CFA8-4A21-9720-269C4611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895725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445703-F905-4645-ABA3-A9DC085F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895725"/>
            <a:ext cx="2423762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38ACB9-D622-4B6E-BEE0-CDB3166E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76675"/>
            <a:ext cx="5524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790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F71452-48A2-47DA-A5A4-0A8FD12C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8800"/>
            <a:ext cx="21907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3D Render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332E49-BA27-4020-BB67-D88896B9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387850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4F0159-0A5F-4BB0-B3B0-A43B8600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387850"/>
            <a:ext cx="233172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9AB07D-7328-4DC9-B26C-36FA8C9F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68800"/>
            <a:ext cx="5524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760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30175F-E403-4B32-9423-607604C6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0925"/>
            <a:ext cx="21907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Surreal Editorial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C4B3CE-ECBE-488D-978F-78E5C6B5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879975"/>
            <a:ext cx="2914650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0E40AD-CA35-4A5C-A600-006A7005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879975"/>
            <a:ext cx="2116956" cy="39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B8D4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BA7760-42CB-4785-8ACF-3559AA61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60925"/>
            <a:ext cx="552450" cy="43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690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6E5FB8-E074-485B-9D7B-0FBD63EB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76500"/>
            <a:ext cx="3714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126B20-7A0D-4943-BA02-E76FE449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76500"/>
            <a:ext cx="371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70FB48-698C-4240-8C4E-E7BBEF2D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628900"/>
            <a:ext cx="3371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Main insight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CCF8BF-CE08-4AE2-BAFF-E6FCD8AF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90850"/>
            <a:ext cx="3371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culture is shifting from simple style imitation toward narrative, cinematic, brand, and video-ready visual thinking.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29980A-B48F-4C30-B352-9084AE57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057650"/>
            <a:ext cx="3714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3D8E23-43C4-424E-9E39-B67DA70B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057650"/>
            <a:ext cx="371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64D2D0-8F2B-4269-A50F-9CCB3084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210050"/>
            <a:ext cx="3371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How the insight was found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558C1F-2B09-43B7-BFDD-BB4B8183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572000"/>
            <a:ext cx="3371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Prompt counts were grouped by year and style, normalized into popularity scores, then compared with keyword growth and representative visual examples.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BF04947-29F6-427E-BD73-3686A21B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10B572A-3CAF-44F3-9018-80F21E97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199734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1CEEEC-C54E-46AE-B939-3DDE2426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REPRESENTATIVE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49510F-BFAD-481C-8778-B3E59E18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Visual examples make the trend story understandable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0DFD2C-14BB-4D12-922B-AE8E03F6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Each style is supported by a generated work, model label, visual evidence, and prompt starter.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7A3FA6-8557-4E0E-8ABE-B016568A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2fda78eedd4225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2305050"/>
            <a:ext cx="2324100" cy="2324100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fa22ee51d4b8e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86150" y="2305050"/>
            <a:ext cx="2324100" cy="2324100"/>
          </a:xfrm>
          <a:prstGeom xmlns:a="http://schemas.openxmlformats.org/drawingml/2006/main" prst="rect">
            <a:avLst/>
          </a:prstGeom>
        </p:spPr>
      </p:pic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2728a67e414424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48400" y="2305050"/>
            <a:ext cx="2324100" cy="2324100"/>
          </a:xfrm>
          <a:prstGeom xmlns:a="http://schemas.openxmlformats.org/drawingml/2006/main" prst="rect">
            <a:avLst/>
          </a:prstGeom>
        </p:spPr>
      </p:pic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fb49b79b3147cc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10650" y="2305050"/>
            <a:ext cx="2324100" cy="2324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1EAE3C-D9C8-4F1B-8B7C-1707F5D3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2324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Anime</a:t>
            </a:r>
          </a:p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emotion, character, color intensity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CABD92-F717-4836-8A60-DFAB22C5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762500"/>
            <a:ext cx="2324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AI Cinematic Storyboard</a:t>
            </a:r>
          </a:p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shot sequence and narrative pacing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CFF1E4-2D4A-4A2E-A84A-28C13F07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62500"/>
            <a:ext cx="2324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Luxury Fashion</a:t>
            </a:r>
          </a:p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commercial editorial composition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A70E3B-26CC-4C7A-8105-A5C20366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762500"/>
            <a:ext cx="2324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Surreal Editorial</a:t>
            </a:r>
          </a:p>
          <a:p xmlns:a="http://schemas.openxmlformats.org/drawingml/2006/main">
            <a:pPr algn="ctr">
              <a:defRPr sz="11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visual metaphor and impossible scenes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0CC5C4-22C6-47F7-A4C9-B07091F3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2599E0-986F-4A61-9AED-6CFE7030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732341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379F3A-5F82-46A5-8798-D0D2342A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AI TOOLCHAIN 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A62C70-48CA-4001-94A0-CC07803F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dashboard compares tools by production role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397BB4-14EB-4182-B8C9-3E99BBF7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This section helps users choose a tool based on creative task, not only popularity.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F7323E-CCB9-4388-9418-51DBF1A9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7E5371-DBB8-42D9-B0DD-E804494D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Tool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860F05-71B8-4FE9-BD19-C71916EE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050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Best fit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DD9EE-9515-45FE-AD07-26D6F225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0505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Popularity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F6D73D-41DE-4ABC-9855-22081296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0505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Quality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A8B3C6-687A-4DC1-8A73-EE87297B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0505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Creativity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E1E667-000F-4484-9834-9A53500E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FA9E6A-6382-447F-A98A-C75E1D72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Midjourney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EB862C-5C04-46D1-8210-BA632872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003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Art direction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61FE97-5D9F-42EF-AAA4-22727312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670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A0368-3BE7-496E-9269-2ADDA040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67025"/>
            <a:ext cx="858774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CEA4E1-E8C7-45B4-887B-03FCF789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92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B99D89-240E-4170-80EE-6AD7DD4F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670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8CF8FA-B4E2-4B6E-874A-939828C9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67025"/>
            <a:ext cx="88677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AE83F0-42D7-4057-99D7-9FE2A04C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7717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95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385FF0-5E53-45CA-921E-A8D39946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670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53413F-14A9-423C-BF5A-83603561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67025"/>
            <a:ext cx="914781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859919-3B79-42D7-9BF0-9513D303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717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98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B40CA1-8EE0-487A-AA55-64588760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E8E699-EF34-4096-8A51-7B07690D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DALL-E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07ACED-EA52-43AF-AABC-9044B20D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429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Rapid ideation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FD5B3E-14C1-4479-972D-CA51DFEA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4956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6A7625-7727-421C-A7B0-AB026D16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495675"/>
            <a:ext cx="765429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B8F173-787B-40E3-9AE6-939B5253F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004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FC9030-DC3F-4DAD-B371-27C6BC1B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956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625220-A302-4600-8B3B-D5913DD5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95675"/>
            <a:ext cx="802767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9D42E-AAFE-4EBF-A443-8CC42B07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004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F56BF2-4A0E-4E48-825D-310316A5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956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CBF5EE-ACF0-4F5F-AA6E-63CEF825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95675"/>
            <a:ext cx="82143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262C0D-ED85-4461-AFF6-7BC9B0B6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004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49E6D3-164E-4FFE-8384-B8925F33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5C36D0-E8FE-4C97-9FBB-BD6580D5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Stable Diffusion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B8F1A0-83E3-42CE-8784-B1FDBE0C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576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Custom workflow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15683A8-E0E1-45B1-8DAF-0A8F71CD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1243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36F53E-1A47-457F-A8F8-CBECDCE5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124325"/>
            <a:ext cx="802767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7C88C37-C810-4CF5-94E5-DAB8F7CA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290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F87681-5960-4AB1-8465-9F9CC380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243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94FBC2-78E8-432A-8331-A094DF8D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24325"/>
            <a:ext cx="774764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9A4A34-E89E-481A-82A5-BF77DFC8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290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F70CFD8-13CC-49B9-BC05-6297A416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243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841614-DFDC-497E-8516-066B8784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24325"/>
            <a:ext cx="812102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4F0657B-34B5-412D-922C-FA28F2A0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290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642DF6-3F44-4535-AC59-5580E2A6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9105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7A1B284-5BE4-4A27-8C29-0F2A4A49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863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8B6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8B6A"/>
                </a:solidFill>
                <a:latin typeface="Arial"/>
                <a:ea typeface="Arial"/>
                <a:cs typeface="Arial"/>
              </a:rPr>
              <a:t>Adobe Firefly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48BD875-962A-46B3-8089-FB0BE475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Commercial design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71B65FA-BEAA-45D1-BFA3-B3CC4B74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529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4781A6B-5C73-4490-B179-BB84060D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52975"/>
            <a:ext cx="672084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7BF13C2-BB2D-43FC-A916-35879BB1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577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72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66115E6-9062-468A-B822-A193369F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529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4FB500-8AD9-43F2-ADDD-1A36E5D6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52975"/>
            <a:ext cx="74676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77094D8-A3A1-47B6-A5E1-BDF05072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577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7D899EB-3D1F-4A59-98AB-36664FFA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529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49ED503-4B34-4BB9-823D-6E1297F3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52975"/>
            <a:ext cx="690753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8A07E08-7A07-40E8-8502-B8C905B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6577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74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9BBA0D7-F31B-4B48-9C78-A2AAF2A5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2EE1F8F-52AC-4F53-A46C-ABD11647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Runway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38F4840-8A9D-4D70-92E1-128D3549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314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Motion/video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C194BA5-1C91-4CF9-8B4C-BC0E62C18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816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0F1704-98EA-4AE7-ABBF-48717ADB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81625"/>
            <a:ext cx="73742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E6EDB37-1A9D-4983-A629-E8F012EE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863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79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586770B-4457-422F-985F-48624B61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816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09826F8-0E13-4241-99FF-611FFAFA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81625"/>
            <a:ext cx="812102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C62E035-740F-4D3E-8CA5-6A7068A2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2863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87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3FF1AEB-B837-43AB-8241-4CF6486B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3816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97FA18-69E2-4DFF-ABE4-39A58B31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381625"/>
            <a:ext cx="84010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C4020B1-B171-48D4-B3FA-FA49B386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2863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90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1DAA5D6-9659-4F51-B169-9747C23A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B4181DD-7D8A-411A-B180-DE4A88D3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691665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84C4A3-5553-4C92-A417-900C6906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INTERACTION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7316DD-B8E5-4D10-9F33-A4B90C2D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dashboard is built to be explored live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AA55D0-7400-49BC-AA22-33D7E6D8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Interactive controls make the project stronger for both demonstration and user learning.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B2EC7-522E-4127-B42A-9AC3A786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cfc70bead48b5"/>
          <a:stretch xmlns:a="http://schemas.openxmlformats.org/drawingml/2006/main"/>
        </p:blipFill>
        <p:spPr>
          <a:xfrm xmlns:a="http://schemas.openxmlformats.org/drawingml/2006/main">
            <a:off x="6610350" y="2466380"/>
            <a:ext cx="4438650" cy="249674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7E56C7-112B-48C4-A1FE-7C3FFADF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381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CE818D-DDDF-4F07-BA76-4FCE66C6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F90052-F57B-435E-8EE3-02C720DD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Linked filters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400EB9-FE91-44EF-9CC5-C22B5518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95600"/>
            <a:ext cx="2038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Style, year, and tool selections update charts, benchmark highlights, and keyword views.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AAA635-76FD-4330-BE83-9F594EED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2381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0DF702-08F8-4112-8DA3-B3265B5E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CF931-8170-44F9-BCD0-0C16BDA68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336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Click drill-down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9317F8-8E86-458F-874F-F6285A56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95600"/>
            <a:ext cx="2038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Plotly selections reveal detailed keywords, style-year context, and representative image evidence.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252D59-AEE2-4F09-A710-692BAEF7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2381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B4608B-3468-473D-B3B0-D2EEB4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BF17D8-689C-4A3C-9B5D-1AE9D4E6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576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Random exploration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395150-9AAE-4AE4-8BDF-B0327003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19600"/>
            <a:ext cx="2038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 demo-friendly button selects a style/year combination and generates an insight prompt.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25BC6B-3604-4F6D-BE8C-1EC09B32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05250"/>
            <a:ext cx="2381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3EFBCF-FF8B-483E-BAB2-254D53C9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0525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9E9C2A-BB72-4CC4-87FB-0204E1AA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0576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Performance feedback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7BF011-42C0-4810-905E-929E9C04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19600"/>
            <a:ext cx="2038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st.cache_data and loading spinners reduce friction during repeated dashboard interaction.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93AE6E-DAE9-4FE4-8051-5A964946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FB9849-3801-4F32-9BC5-E6329F9F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507358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39F203-FCE7-43A3-B2DC-EFCFBEEA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CREATIVE STRATEGY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C00588-51D3-4D2A-9EA5-AA9D8359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site turns analysis into actionable creative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DA497-6438-4868-AD17-BD2BBF9F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This is the main differentiator from a standard chart dashboard.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AD6954-2D47-41D8-B9E7-281C45B15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74541b63fa4bb6"/>
          <a:stretch xmlns:a="http://schemas.openxmlformats.org/drawingml/2006/main"/>
        </p:blipFill>
        <p:spPr>
          <a:xfrm xmlns:a="http://schemas.openxmlformats.org/drawingml/2006/main">
            <a:off x="6496050" y="2427089"/>
            <a:ext cx="4476750" cy="251817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4B1FDC-DB15-452D-BC8F-434F1238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4B0A7B-5CAF-44F0-952A-F4A9AD1D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1457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Use Case Recommendation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5F699-F3E2-4255-BC98-61345331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brand campaign, game concept, social visual, short film, product render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D8284C-81FB-4929-8296-6AC10123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C49EB9-93CA-43BC-9E01-6B28598F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0512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Creative Direction Generator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9A274D-D48C-47B9-BB4F-22C2032B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0515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copy-ready direction based on selected visual style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9DA36E-F87E-4C59-AB9B-788DE27A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721691-61E1-445E-9462-8534280F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9567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Moodboard Preview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4F7FD9-36DB-4DE3-83F7-7D6983A5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visual collage driven by mood, color, and theme choices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0FCE3C-E531-4563-B5C6-D4E19A5D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B7D134-8FD8-4D11-A7DF-B0D79149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8622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Motion Preview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53FCC3-455D-46AC-B951-49CD00D8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GIF previews for cinematic, editorial, and luxury styles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E14875-80DA-4D3E-A34F-BA4B0DB5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74F081-05F5-4BAE-830D-0BF9FCD5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76775"/>
            <a:ext cx="219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Linear Forecast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A19140-808D-41FC-937E-B0A8BF64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7680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2025-2027 exploratory projection based on historical style 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F03C5D-9BFE-4AF8-B963-35E284AE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9A553F-D00C-44EE-9A2C-2CD9663F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68155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A8BBD1-5137-41B2-9B4C-180853FE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BC0FB-FD71-43C1-A779-F347BFA5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source code is organized for review and deployment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3B7A65-FCDD-42E1-A53F-75E1776D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implementation addresses performance, maintainability, and delivery requirements.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A427C-8571-417B-B03D-DE77A6CE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56163-3B2B-4484-B257-EEBDA453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3238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4F0D00-6035-4BA3-A996-261ACD85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323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7A5E1F-3C3E-4B75-AB83-C3AD2EAF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2895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Core functions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78FC5A-15A6-40A4-9E6D-A23A25BF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895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load_data(), render_sidebar(), render_hero(), tab_trends(), tab_gallery(), tab_tools(), tab_keywords(), tab_strategy(), tab_references()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2ADAE8-6E22-42DC-A70C-B306A18E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81250"/>
            <a:ext cx="3238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440481-0605-437F-9FD6-B13EBD91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81250"/>
            <a:ext cx="323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6E0BA0-5463-4A43-AB24-C732E50A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33650"/>
            <a:ext cx="2895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Quality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1F24C-B706-477C-B98E-9B2336F5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95600"/>
            <a:ext cx="2895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st.cache_data for CSV loading; try/except for missing files; normalized Plotly dark theme; local assets to avoid broken external image links.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CB0ED6-BFCA-4B1E-91C4-DF2ACBD1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81250"/>
            <a:ext cx="3238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6222F5-7D89-4888-A684-383A39B5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81250"/>
            <a:ext cx="323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CB4BB8-2DD7-42E2-A49A-86F9BFC4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33650"/>
            <a:ext cx="2895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Delivery package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69CCC6-6C36-4BAE-BB31-5060A200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95600"/>
            <a:ext cx="2895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app.py, data/, assets/, requirements.txt, README.md, screenshots, presentation notes, and this PowerPoint deck are synced to GitHub.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B93546-602E-4759-9ED7-88D2BE04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Run command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B569EB-4E8D-4662-B9C7-A86ACCA5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rPr>
              <a:t>streamlit run app.py</a:t>
            </a:r>
          </a:p>
          <a:p xmlns:a="http://schemas.openxmlformats.org/drawingml/2006/main">
            <a:pPr algn="l">
              <a:def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rPr>
              <a:t>streamlit run app.py --server.port 8510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1D848E-F4C2-49A0-98A4-0C5D26EA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767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Repository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6B7410-A831-49A0-99C6-2CB2A37B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5775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github.com/hedan-skku/ai-visual-trend-dashboard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3DCB66-CD3D-40A1-9FF5-9F49BE5B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000EF-E222-45B4-94B5-B2726F1F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0686149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209155-5CBB-400A-B71B-AA93C034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PRD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452327-DF18-408B-A881-7BA1C173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Three-step development plan and final delivery status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5B9F1E-A096-4FA2-B938-4836F22E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final website follows the PRD roadmap from prototype to polished portfolio-ready dashboard.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5A3213-6D1A-4C11-9911-AF0EC01F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245AD1-BC70-4022-BCCC-B9711C32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31908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CBE417-7C17-4F2A-828D-30532C82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3190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03D6E7-E448-46A8-9A4D-92B5538A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2847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Step 1: Basic Layout + Sample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4CC6CD-0A5A-4FFF-BC23-6F7D8EAB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847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Create Streamlit structure, sidebar, sample data, basic charts, title sections, and dark-theme layout.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27DF9-C58F-44F2-A53F-9717F73D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81250"/>
            <a:ext cx="31908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F6F1B6-70CE-4A89-9872-9A5AA9C1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81250"/>
            <a:ext cx="3190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28407-71D4-4B5F-B3CB-750D58BA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33650"/>
            <a:ext cx="2847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Step 2: Charts + Interactivity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41815B-C0ED-4ECD-BC56-BA2BE8AE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95600"/>
            <a:ext cx="2847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Add advanced Plotly charts, filters, dropdowns, AI tool comparison, keyword trends, and improved UI layout.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300263-47BD-4088-A3C7-076E7E9A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81250"/>
            <a:ext cx="31908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32C83C-ED64-4166-8017-2C0C7D83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81250"/>
            <a:ext cx="31908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E56A37-3D54-454A-A09F-45AEB594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33650"/>
            <a:ext cx="2847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Step 3: Polish + Data + Extras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042590-0848-4272-8FEC-07840608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2847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Add richer datasets, responsiveness, animations, performance optimization, final screenshots, and presentation assets.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CD4BE1-274B-440C-8C08-17078AA9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Final deliverables from PRD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8FDAC6-0EAC-49B1-98F9-CB4DD4D9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857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Streamlit web dashboard: completed locally and prepared for Streamlit Cloud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GitHub repository: completed and synced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GitHub Pages portfolio site: identified as an optional next publishing step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PRD documentation: included in this presentation narrative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Final presentation screenshots: included in README and presentation assets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D31170-4285-4405-B0E6-4DD300B3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EF413F-E0C9-444F-8E6F-A30B9080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5071214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864A97-6382-4413-80C3-24B3AA5F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09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8AC47F-B4DA-405E-8D5F-6B0EA998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website presents AI visual trends as a complete research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70DFBE-92D2-4D58-A7F7-DFA7F0A8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It connects PRD goals, data evidence, interface design, visual examples, and technical implementation.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F0E77C-5C77-4AB2-A006-17026231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86052-8EB9-499E-9675-A3D0C195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24100"/>
            <a:ext cx="9810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5D04D9-7E64-4FE0-9EB1-9B8F7EC7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098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Final argument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D6C388-BE3A-434C-9887-1D42CD50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8610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AI visual culture is moving from static style imitation toward creative direction: narrative image-making, tool-aware production, and visual strategy. The dashboard makes that shift visible through data, examples, and interaction.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C1046D-D902-40D3-A971-1411C9F8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863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Next steps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89669E-B58A-4684-B531-6E498022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67300"/>
            <a:ext cx="7239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replace the semi-real dataset with a full Kaggle prompt export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deploy the app publicly on Streamlit Cloud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record a 1-2 minute demo video for README and final presentation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73336A-721F-4137-9F69-6ACAEDAB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334000"/>
            <a:ext cx="2095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A5D17-9D9C-433E-8376-FFAA993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FE6209-81AA-4045-BBD1-025F49B3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953327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2026-05-30T11:31:32.2210000Z</dcterms:created>
  <dcterms:modified xsi:type="dcterms:W3CDTF">2026-05-30T11:31:32.2210000Z</dcterms:modified>
</coreProperties>
</file>