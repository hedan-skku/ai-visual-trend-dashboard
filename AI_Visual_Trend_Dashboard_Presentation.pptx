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324b21051499a" /><Relationship Type="http://schemas.openxmlformats.org/officeDocument/2006/relationships/extended-properties" Target="/docProps/app.xml" Id="R81d278ef9843431b" /><Relationship Type="http://schemas.openxmlformats.org/officeDocument/2006/relationships/officeDocument" Target="/ppt/presentation.xml" Id="R9e27bd65a1ec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7c55220e24132"/>
  </p:sldMasterIdLst>
  <p:notesMasterIdLst>
    <p:notesMasterId xmlns:r="http://schemas.openxmlformats.org/officeDocument/2006/relationships" r:id="R24737a88bd6d4e49"/>
  </p:notesMasterIdLst>
  <p:sldIdLst>
    <p:sldId xmlns:r="http://schemas.openxmlformats.org/officeDocument/2006/relationships" id="256" r:id="R488d45662f68459f"/>
    <p:sldId xmlns:r="http://schemas.openxmlformats.org/officeDocument/2006/relationships" id="257" r:id="R6ddf933947374d5e"/>
    <p:sldId xmlns:r="http://schemas.openxmlformats.org/officeDocument/2006/relationships" id="258" r:id="Raf131fba8ad5492d"/>
    <p:sldId xmlns:r="http://schemas.openxmlformats.org/officeDocument/2006/relationships" id="259" r:id="R7963da218ed244fa"/>
    <p:sldId xmlns:r="http://schemas.openxmlformats.org/officeDocument/2006/relationships" id="260" r:id="R3ffbbd2c007b4eb6"/>
    <p:sldId xmlns:r="http://schemas.openxmlformats.org/officeDocument/2006/relationships" id="261" r:id="R3ee2de10917f46b8"/>
    <p:sldId xmlns:r="http://schemas.openxmlformats.org/officeDocument/2006/relationships" id="262" r:id="R475053f00e594842"/>
    <p:sldId xmlns:r="http://schemas.openxmlformats.org/officeDocument/2006/relationships" id="263" r:id="Rc1063e0444b244fb"/>
    <p:sldId xmlns:r="http://schemas.openxmlformats.org/officeDocument/2006/relationships" id="264" r:id="Re936cf78e50744ed"/>
    <p:sldId xmlns:r="http://schemas.openxmlformats.org/officeDocument/2006/relationships" id="265" r:id="R90f1ded44a9947bc"/>
    <p:sldId xmlns:r="http://schemas.openxmlformats.org/officeDocument/2006/relationships" id="266" r:id="Rc248a28ac9fe40a0"/>
    <p:sldId xmlns:r="http://schemas.openxmlformats.org/officeDocument/2006/relationships" id="267" r:id="R303370afa89c4948"/>
    <p:sldId xmlns:r="http://schemas.openxmlformats.org/officeDocument/2006/relationships" id="268" r:id="R60d3be1292274d23"/>
    <p:sldId xmlns:r="http://schemas.openxmlformats.org/officeDocument/2006/relationships" id="269" r:id="R7961e6abe14f4e2e"/>
    <p:sldId xmlns:r="http://schemas.openxmlformats.org/officeDocument/2006/relationships" id="270" r:id="R982205a6a59844f9"/>
    <p:sldId xmlns:r="http://schemas.openxmlformats.org/officeDocument/2006/relationships" id="271" r:id="R15433f2f172a4b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7c55220e24132" /><Relationship Type="http://schemas.openxmlformats.org/officeDocument/2006/relationships/theme" Target="/ppt/theme/theme1.xml" Id="Ra70764d721004880" /><Relationship Type="http://schemas.openxmlformats.org/officeDocument/2006/relationships/notesMaster" Target="/ppt/notesMasters/notesMaster1.xml" Id="R24737a88bd6d4e49" /><Relationship Type="http://schemas.openxmlformats.org/officeDocument/2006/relationships/presProps" Target="/ppt/presProps.xml" Id="R61fbc3f4d0884c9f" /><Relationship Type="http://schemas.openxmlformats.org/officeDocument/2006/relationships/viewProps" Target="/ppt/viewProps.xml" Id="R6d76d297cd7f47dc" /><Relationship Type="http://schemas.openxmlformats.org/officeDocument/2006/relationships/tableStyles" Target="/ppt/tableStyles.xml" Id="R4f23275e0c534133" /><Relationship Type="http://schemas.openxmlformats.org/officeDocument/2006/relationships/slide" Target="/ppt/slides/slide1.xml" Id="R488d45662f68459f" /><Relationship Type="http://schemas.openxmlformats.org/officeDocument/2006/relationships/slide" Target="/ppt/slides/slide2.xml" Id="R6ddf933947374d5e" /><Relationship Type="http://schemas.openxmlformats.org/officeDocument/2006/relationships/slide" Target="/ppt/slides/slide3.xml" Id="Raf131fba8ad5492d" /><Relationship Type="http://schemas.openxmlformats.org/officeDocument/2006/relationships/slide" Target="/ppt/slides/slide4.xml" Id="R7963da218ed244fa" /><Relationship Type="http://schemas.openxmlformats.org/officeDocument/2006/relationships/slide" Target="/ppt/slides/slide5.xml" Id="R3ffbbd2c007b4eb6" /><Relationship Type="http://schemas.openxmlformats.org/officeDocument/2006/relationships/slide" Target="/ppt/slides/slide6.xml" Id="R3ee2de10917f46b8" /><Relationship Type="http://schemas.openxmlformats.org/officeDocument/2006/relationships/slide" Target="/ppt/slides/slide7.xml" Id="R475053f00e594842" /><Relationship Type="http://schemas.openxmlformats.org/officeDocument/2006/relationships/slide" Target="/ppt/slides/slide8.xml" Id="Rc1063e0444b244fb" /><Relationship Type="http://schemas.openxmlformats.org/officeDocument/2006/relationships/slide" Target="/ppt/slides/slide9.xml" Id="Re936cf78e50744ed" /><Relationship Type="http://schemas.openxmlformats.org/officeDocument/2006/relationships/slide" Target="/ppt/slides/slide10.xml" Id="R90f1ded44a9947bc" /><Relationship Type="http://schemas.openxmlformats.org/officeDocument/2006/relationships/slide" Target="/ppt/slides/slide11.xml" Id="Rc248a28ac9fe40a0" /><Relationship Type="http://schemas.openxmlformats.org/officeDocument/2006/relationships/slide" Target="/ppt/slides/slide12.xml" Id="R303370afa89c4948" /><Relationship Type="http://schemas.openxmlformats.org/officeDocument/2006/relationships/slide" Target="/ppt/slides/slide13.xml" Id="R60d3be1292274d23" /><Relationship Type="http://schemas.openxmlformats.org/officeDocument/2006/relationships/slide" Target="/ppt/slides/slide14.xml" Id="R7961e6abe14f4e2e" /><Relationship Type="http://schemas.openxmlformats.org/officeDocument/2006/relationships/slide" Target="/ppt/slides/slide15.xml" Id="R982205a6a59844f9" /><Relationship Type="http://schemas.openxmlformats.org/officeDocument/2006/relationships/slide" Target="/ppt/slides/slide16.xml" Id="R15433f2f172a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e4c9e97ecb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daa92aebf40da" /><Relationship Type="http://schemas.openxmlformats.org/officeDocument/2006/relationships/notesMaster" Target="/ppt/notesMasters/notesMaster1.xml" Id="R6b44e17b841444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b8bd405e1540f5" /><Relationship Type="http://schemas.openxmlformats.org/officeDocument/2006/relationships/notesMaster" Target="/ppt/notesMasters/notesMaster1.xml" Id="Re04b783ec2f14b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7680ca64804442" /><Relationship Type="http://schemas.openxmlformats.org/officeDocument/2006/relationships/notesMaster" Target="/ppt/notesMasters/notesMaster1.xml" Id="R83d0775698f74a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cdc1934ff42d0" /><Relationship Type="http://schemas.openxmlformats.org/officeDocument/2006/relationships/notesMaster" Target="/ppt/notesMasters/notesMaster1.xml" Id="R25f924401449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a0d7b6503140bb" /><Relationship Type="http://schemas.openxmlformats.org/officeDocument/2006/relationships/notesMaster" Target="/ppt/notesMasters/notesMaster1.xml" Id="R64f1b97c44714c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bdd81e6be4d7d" /><Relationship Type="http://schemas.openxmlformats.org/officeDocument/2006/relationships/notesMaster" Target="/ppt/notesMasters/notesMaster1.xml" Id="R26f50670b71246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be4798db294f8b" /><Relationship Type="http://schemas.openxmlformats.org/officeDocument/2006/relationships/notesMaster" Target="/ppt/notesMasters/notesMaster1.xml" Id="R02e6fcca64924a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c3031212d84f80" /><Relationship Type="http://schemas.openxmlformats.org/officeDocument/2006/relationships/notesMaster" Target="/ppt/notesMasters/notesMaster1.xml" Id="R96965bf0a77e4b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a5c5a11dc4595" /><Relationship Type="http://schemas.openxmlformats.org/officeDocument/2006/relationships/notesMaster" Target="/ppt/notesMasters/notesMaster1.xml" Id="Rbf8cb9afaac246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24784257024c66" /><Relationship Type="http://schemas.openxmlformats.org/officeDocument/2006/relationships/notesMaster" Target="/ppt/notesMasters/notesMaster1.xml" Id="R14956e2aaca346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90a98492634216" /><Relationship Type="http://schemas.openxmlformats.org/officeDocument/2006/relationships/notesMaster" Target="/ppt/notesMasters/notesMaster1.xml" Id="R71ea1c48b93940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c5554c862049e2" /><Relationship Type="http://schemas.openxmlformats.org/officeDocument/2006/relationships/notesMaster" Target="/ppt/notesMasters/notesMaster1.xml" Id="Rcc89fa6e5f8b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3ebd7a83034579" /><Relationship Type="http://schemas.openxmlformats.org/officeDocument/2006/relationships/notesMaster" Target="/ppt/notesMasters/notesMaster1.xml" Id="R18a930ba202f43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4537ce9f9148c9" /><Relationship Type="http://schemas.openxmlformats.org/officeDocument/2006/relationships/notesMaster" Target="/ppt/notesMasters/notesMaster1.xml" Id="R95b97991bd6d4c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83db6017784730" /><Relationship Type="http://schemas.openxmlformats.org/officeDocument/2006/relationships/notesMaster" Target="/ppt/notesMasters/notesMaster1.xml" Id="R7552091018ae44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61941797ea4d91" /><Relationship Type="http://schemas.openxmlformats.org/officeDocument/2006/relationships/notesMaster" Target="/ppt/notesMasters/notesMaster1.xml" Id="R0d1a33484c0a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38bc85b2f41a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50b185d28354e20" /><Relationship Type="http://schemas.openxmlformats.org/officeDocument/2006/relationships/slideLayout" Target="/ppt/slideLayouts/slideLayout2.xml" Id="Ra81e6aa59085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e6aa59085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3bf0fb271d4205" /><Relationship Type="http://schemas.openxmlformats.org/officeDocument/2006/relationships/image" Target="/ppt/media/image.jpeg" Id="Rd928b0840b0145e1" /><Relationship Type="http://schemas.openxmlformats.org/officeDocument/2006/relationships/notesSlide" Target="/ppt/notesSlides/notesSlide1.xml" Id="R11773d09799a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448c4f27744479" /><Relationship Type="http://schemas.openxmlformats.org/officeDocument/2006/relationships/notesSlide" Target="/ppt/notesSlides/notesSlide2.xml" Id="R646179c8d6f3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7758c98b541ed" /><Relationship Type="http://schemas.openxmlformats.org/officeDocument/2006/relationships/notesSlide" Target="/ppt/notesSlides/notesSlide3.xml" Id="R0f82dfe1e6ee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6ee955d454526" /><Relationship Type="http://schemas.openxmlformats.org/officeDocument/2006/relationships/notesSlide" Target="/ppt/notesSlides/notesSlide4.xml" Id="R7ef6e617aaa34f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4eadb4f2064fb0" /><Relationship Type="http://schemas.openxmlformats.org/officeDocument/2006/relationships/notesSlide" Target="/ppt/notesSlides/notesSlide5.xml" Id="R70944521e80149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bfc2fb99f4d2c" /><Relationship Type="http://schemas.openxmlformats.org/officeDocument/2006/relationships/notesSlide" Target="/ppt/notesSlides/notesSlide6.xml" Id="Rdea4498dd5b543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7547a6cb6a4d3e" /><Relationship Type="http://schemas.openxmlformats.org/officeDocument/2006/relationships/image" Target="/ppt/media/image2.jpeg" Id="R3ea052bb4eac4f9e" /><Relationship Type="http://schemas.openxmlformats.org/officeDocument/2006/relationships/notesSlide" Target="/ppt/notesSlides/notesSlide7.xml" Id="Rc37392901404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5765e2af84fd8" /><Relationship Type="http://schemas.openxmlformats.org/officeDocument/2006/relationships/notesSlide" Target="/ppt/notesSlides/notesSlide8.xml" Id="Rc910885e58f943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40d0944104bc2" /><Relationship Type="http://schemas.openxmlformats.org/officeDocument/2006/relationships/notesSlide" Target="/ppt/notesSlides/notesSlide9.xml" Id="R0b81dbde9b87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9b02ff4a44600" /><Relationship Type="http://schemas.openxmlformats.org/officeDocument/2006/relationships/image" Target="/ppt/media/image.png" Id="Rab406eb20e6c402d" /><Relationship Type="http://schemas.openxmlformats.org/officeDocument/2006/relationships/image" Target="/ppt/media/image2.png" Id="Rca38504f53424923" /><Relationship Type="http://schemas.openxmlformats.org/officeDocument/2006/relationships/image" Target="/ppt/media/image3.png" Id="Rbf712d56918947af" /><Relationship Type="http://schemas.openxmlformats.org/officeDocument/2006/relationships/image" Target="/ppt/media/image4.png" Id="R029c370d52414181" /><Relationship Type="http://schemas.openxmlformats.org/officeDocument/2006/relationships/notesSlide" Target="/ppt/notesSlides/notesSlide10.xml" Id="Ra02ef353eb0c43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78e2281ff4d8f" /><Relationship Type="http://schemas.openxmlformats.org/officeDocument/2006/relationships/notesSlide" Target="/ppt/notesSlides/notesSlide11.xml" Id="Rd40f6dc2bd7846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e5cf760c2463b" /><Relationship Type="http://schemas.openxmlformats.org/officeDocument/2006/relationships/image" Target="/ppt/media/image3.jpeg" Id="Rc66325635c494512" /><Relationship Type="http://schemas.openxmlformats.org/officeDocument/2006/relationships/notesSlide" Target="/ppt/notesSlides/notesSlide12.xml" Id="Rc1ccac4f9f184f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ab0c29d34b4cb0" /><Relationship Type="http://schemas.openxmlformats.org/officeDocument/2006/relationships/image" Target="/ppt/media/image4.jpeg" Id="R96bc3e7976ef4e17" /><Relationship Type="http://schemas.openxmlformats.org/officeDocument/2006/relationships/notesSlide" Target="/ppt/notesSlides/notesSlide13.xml" Id="R5db39cd1d2a14d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86a5fd6ae4279" /><Relationship Type="http://schemas.openxmlformats.org/officeDocument/2006/relationships/notesSlide" Target="/ppt/notesSlides/notesSlide14.xml" Id="Rbf0f8b531c9d41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1703a9b950493f" /><Relationship Type="http://schemas.openxmlformats.org/officeDocument/2006/relationships/notesSlide" Target="/ppt/notesSlides/notesSlide15.xml" Id="Rea09b9f4120f4a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0c87f7a8f44693" /><Relationship Type="http://schemas.openxmlformats.org/officeDocument/2006/relationships/notesSlide" Target="/ppt/notesSlides/notesSlide16.xml" Id="R82dc4f74898d48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8C2CE-6197-4D09-88EA-2F8B281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2197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8b0840b0145e1"/>
          <a:stretch xmlns:a="http://schemas.openxmlformats.org/drawingml/2006/main"/>
        </p:blipFill>
        <p:spPr>
          <a:xfrm xmlns:a="http://schemas.openxmlformats.org/drawingml/2006/main">
            <a:off x="7157531" y="685800"/>
            <a:ext cx="3287137" cy="3848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82795-1209-42A1-8D78-6BF4DDF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21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8F48C-754A-4BCD-8A8F-E1AC071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09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3957B-186C-4DB6-A3AC-6D0FE52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C98A"/>
                </a:solidFill>
                <a:latin typeface="Arial"/>
                <a:ea typeface="Arial"/>
                <a:cs typeface="Arial"/>
              </a:rPr>
              <a:t>A data-driven research dashboard for AI-generated visual culture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B749E-8269-445E-B89B-9F40213D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52863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Prompt trend analytics, tool benchmarking, representative works, and creative strategy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Designed as a Data Hub Dashboard with interactive exploration and visual evidence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Built with Streamlit, Pandas, Plotly, scikit-learn-style forecasting, and local AI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FF583-27FC-4F10-98B5-C44D8B6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2"/>
          </a:solidFill>
          <a:ln xmlns:a="http://schemas.openxmlformats.org/drawingml/2006/main" w="9525">
            <a:solidFill>
              <a:srgbClr val="39D6C9"/>
            </a:solidFill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Presentation focus: PRD alignment + full website walkthrough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3CFB4-7DD2-4DCA-B694-B309D90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E1289-4170-4CF8-B37F-ECC2CC5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9299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FA4D9-1D40-44DD-B21E-927659A9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PRD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EA4E1-5986-44BD-A06D-1BAABCF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5W1H defines the product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5BF7-4DE3-45F5-95CB-ED8A53C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project starts from a clear product requirement document and turns it into a working Streamlit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629C-5919-4F4C-9A64-91C4F08E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28001-A788-429E-ADF9-AC1C363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B9ADF-9E86-4C1A-A7AB-D121FAA3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97FD3-6063-4020-96D0-749AF77D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DF041-F43F-4928-AACF-0986C57E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Explore trends in AI-generated visual content, creative advertising styles, film production, and creative technology.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2DB18-A9AA-4455-9BDE-CBDEFB5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DB51A-F37F-43F8-B259-A6BBACE3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925CB-29C1-4F2E-BB7F-021F7A84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Who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6FDCD-5F8E-49DA-8B6C-F3E7C53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Students, creators, designers, marketers, and people interested in AI-generated visual content.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3ED25-BA4A-48B0-8BDA-09A1CBCF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9EC65-69E5-45EF-B335-79FEE6D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D998B-A5B4-4B34-88A8-D80AA856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F0D95-EEB7-4197-B57B-B909C6E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Trend charts, style comparison, keyword analysis, AI tool comparison, filters, data tables, metrics, and insights.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BA8A2-8EAE-4B40-A3CE-BA380C4E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C4237-8CD1-4FE4-BA83-51BD7B11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8288A-B15E-4184-9EA9-5F0F8BCB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EE18A-C13F-460B-9556-BD081A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Used for researching visual trends, finding creative inspiration, analyzing AI content, and comparing design directions.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6EA6F-1334-4523-BBA8-AE48B78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5FCD5-6984-468C-A5C0-46209A2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C9E40-2976-4596-8E65-C2EE54C2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EB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EB8D4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0B90A-879B-4682-B238-F9658DB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 Streamlit web application prepared for GitHub and Streamlit Cloud deployment.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58E68-78FF-485F-B96B-161387A1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D3592-7F26-4101-BFE1-1C5AC64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6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5282F-6DE8-4A8D-9F2F-08C8B6E1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56F72D-1177-4603-B157-CD91991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990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Python, Streamlit, Pandas, Plotly, AI-assisted coding, GitHub, and Streamlit Cloud.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29CD3-66DA-48A2-8ADB-200573F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9D5AE-056D-479B-A760-BB101C9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4666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04F84-9CC7-44D6-A8CC-6A3FD9A9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PRD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E0F36-D80B-49F3-8093-96206AF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Target users and jobs to be done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59D7D-1222-4FC8-AD96-AA45E71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website supports both analytical review and creative decision-making.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3827B-92C5-4F65-A157-F7E901F1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F0D1C-CE6B-48C0-8ED1-99236FD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AE8E8-7A66-4C91-BF51-4F0D0FE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E002-C626-47C0-9839-61CDA99B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Design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B88F-1255-417B-93AC-FE84D1E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Need a clear explanation of AI visual trends, datasets, tools, and project methodology for learning and presentation.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E4F28-0F84-4AA7-9E21-C1BC4C55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D5278-F172-4AB8-9202-6E18A9A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96303-0711-4E09-A18A-1110061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2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Digital Creators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EC260-CD3A-4BB8-A225-C03B18B8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146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Need style inspiration, prompt starters, moodboard directions, and representative images for faster concept exploration.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33102-98D1-4329-A471-8F62BDE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36183-C26D-481B-A6BC-61C2DFC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7C3D9-1E27-4374-891A-E3683237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Art Directors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23C6A-1B28-4F36-A017-16763CD2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Need tool comparison, visual evidence, and use-case recommendations for production planning and team discussion.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EE607-8E50-429B-A4E2-DD44926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4E018-A026-4947-BA63-92E23A99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842E2-B8F5-46B6-9A8F-A072C70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Evaluators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B8841-A45B-42D2-B146-9A3276C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133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Need to see data credibility, interaction depth, code organization, visual quality, and final delivery readiness.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197E5-26C0-4AE7-A9F2-D6EE80D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Primary user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52E30-7F69-4D6D-919B-1D3ED002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Start with top metrics and the AI toolchain snapshot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Filter by style, year, and tool to explore trend patterns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Open representative works to understand the visual meaning behind the data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Use recommendations, moodboard, and forecast to form a creative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F96D1-51F6-463D-A2D8-1D44ACD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7CFDB1-7C88-45F6-865A-BCCCD6AC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08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C8C48-7DE4-4822-A2F4-22EBEF49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PRD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8B148-98CD-4A3A-9F2C-3CC6CEEF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Requirement coverage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67346-39B8-449E-8025-8DFEB1F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deck maps the website directly against the requested project expectations.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977D1-1D37-49CB-9143-8585C7C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EECBB-675F-480E-A6D8-24999F43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70476-2E0F-460C-A04D-7FF6978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Requirement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52C46-30A9-4EEB-8F27-7A1D4F2C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B8C09-514F-403E-AD90-79FE7941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C98A"/>
                </a:solidFill>
                <a:latin typeface="Arial"/>
                <a:ea typeface="Arial"/>
                <a:cs typeface="Arial"/>
              </a:rPr>
              <a:t>What the website includes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8E038-C21C-439E-9A0C-7765AFE0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33625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60807-EDC9-43AD-8CBD-605767C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C98A"/>
                </a:solidFill>
                <a:latin typeface="Arial"/>
                <a:ea typeface="Arial"/>
                <a:cs typeface="Arial"/>
              </a:rPr>
              <a:t>Evidence in the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06868-99BB-4289-9DEB-4AC739A4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EF217-450B-4AFC-88B6-3E8D93CC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Data credibility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87A60-4258-49A0-B887-C1D826DA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575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EF93-6F52-49E0-A1CC-0487EF9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981,354 safe DiffusionDB prompts, source notes, transparent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AFB18-98F3-4C6A-A8FD-E8119A3B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72CD2-B49D-408B-B57E-8E623B4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24175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Home metrics, README, data folder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4F215-5A8E-428D-8FA8-C3426B3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67AAC-740E-4263-BF01-7439F01C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Interaction depth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CCB32-B752-404B-A322-DF38E71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147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CAC7C-A192-48E6-AD47-9315DA0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Sidebar filters, chart drill-down, selected-tool linking, random exploration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D7562-53ED-47A1-9C30-0E6251C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0B36A-EC29-4C18-9FF0-E757FE68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Trend Analytics, Tool Benchmarks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F0454-FB46-4571-8D1A-FFEE0E0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5BFB7-BEF8-4B48-8148-A203172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CA692-A78E-4B73-A363-42EDF66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719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08C49-5B52-40BA-A24D-EA588B6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Representative generated works, model labels, visual evidence captions, motion previews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92C6D-7DD1-4081-971D-949A89A0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719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68901-05AF-45F3-8E7C-52943C1B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38575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Representative Works, Creative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DB8BB-54DD-4C50-84A1-498125E4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699DD-FC17-45F9-88DC-AA71AD6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Technical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9B1BF-C8FB-4946-8E9D-F93F3F4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291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DA8E35-6168-4391-B652-1ED169BF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Modular functions, cache, error handling, requirements file, deployment notes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F25A3-8690-46C4-8F47-5D46AC93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291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6C12A1-37F7-442C-96C2-B029CAAD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app.py, README, requirements.txt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4FE65A-F802-401B-A730-7C0B2BC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4D73AD-AB22-4C1A-A875-965548E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Presentation readiness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39A0D-BC53-415A-A936-61C04DF2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77AA8E-66A6-454C-BD38-E2C9918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52975"/>
            <a:ext cx="403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Screenshots, speaker notes, GitHub sync, PPT delivery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0D784B-FE5B-44AA-B343-74B71934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8630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4A88F-440A-4E3A-A512-2231F0F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52975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README, PPT deck, project repo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B5400B-A8D8-46DE-AC82-ADDC585F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D03F50-B135-40BC-B885-8EA168C8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9453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196C6-61B4-488D-89B3-ECB5C90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PRD FEATURE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529A3-BE7D-4C0B-9095-031C9834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Main features translated into website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86783-42C1-4D73-B3EB-2B6577CD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Each required feature from the PRD is represented by a concrete section or interaction in the final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AD680-CD12-45AF-80F8-3506A0E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2EFB0-8A58-4725-B58A-EDAAE356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E4E4-61D5-4FF5-A0B0-B577AB5D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PRD Feature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D0CB3-394A-477D-9C53-14E896D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62B2E-54B9-4E4D-9308-5CB69586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C98A"/>
                </a:solidFill>
                <a:latin typeface="Arial"/>
                <a:ea typeface="Arial"/>
                <a:cs typeface="Arial"/>
              </a:rPr>
              <a:t>Dashboard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C382C-D5A9-4109-85CE-82749E42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BA138-472A-4B70-8544-26CD396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C98A"/>
                </a:solidFill>
                <a:latin typeface="Arial"/>
                <a:ea typeface="Arial"/>
                <a:cs typeface="Arial"/>
              </a:rPr>
              <a:t>Where It 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6BA4F-EA63-4BEE-951A-DC63BE8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AC282-CC22-459E-ACDC-2BD13BA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Visual Trend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7D728-0016-40B7-B56C-F452821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25F52-AFD3-4DA2-8CAE-D50BC3A8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0037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Line and bar charts for AI visual style changes over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42035-F813-48C8-BED2-293AB64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337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0004C-1E8B-4C57-B5E9-3A1D707B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Trend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B9888-A34B-410D-B00D-22D81C3A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96F79-693D-4637-A5D8-C3CA5370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 Tool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2252A-0CD5-40EF-971B-2FB4C2D7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E0172-B6F5-49A7-A790-5863C523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5282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Factual capability matrix for Midjourney, OpenAI Images, Stable Diffusion, Adobe Firefly, and Runway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A28BB-4510-4C25-BBAD-24CF6E64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382A5-BD69-4B94-AC89-C3B16938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528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Tool Benchmarks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66AE9-5B0D-4CE6-85B5-B58CF44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C9085-43D2-48C8-B379-27CCC114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Keyword Trend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7416D-A807-488B-909B-9D036A44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386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A63AB-58C1-46E5-B168-FA9CC536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0527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Frequency and growth from real DiffusionDB prompt matches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23E5E-FB65-4BAD-A772-AB0EF034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CAF6B-C307-4F1A-AD87-98C78A2E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0527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Keyword Insights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8A33A-0CA9-4AE0-BA4C-A8C9334D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15469-768B-49B0-9C03-ED482A2D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Interactive Filters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8852A-898D-4625-A0A8-EC66ED8D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910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D7D45-764A-4701-BE94-88055BF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UTC date, style category, AI tool, and capability focus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33CFFE-7009-4866-BB1B-CED56ADC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910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4263A-685C-4DF6-AF2B-D968DA6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5772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Sidebar + chart drill-down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A975D6-D4F4-4A21-A54A-492FF58E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BA135-ADB6-4D02-9D78-431C1A5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Dashboard Metrics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09BC0F-FE43-4C57-A80B-194DC83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E8948-E607-40B3-9AB0-587DE8D4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0175"/>
            <a:ext cx="461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Top tracked style, fastest daily growth, safe prompts, and classified matches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BEE829-D166-481F-A464-180B0269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435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A774A5-6A53-445F-8EB4-110EBE1B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10175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Home hero metrics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398562-6375-41FE-A6E8-C7B7142F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Additional polish beyond the PRD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2478CD-285F-4E90-9E49-32CE8201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0550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Representative works, creative direction generator, moodboard preview, motion preview, real-world references, and exploratory forecasting.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585027-E879-4C8B-B4AD-9014AFD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397136-F2A4-463F-9AB6-564CAE91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41780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3CBF8-D06D-49B9-BE1B-29AF9F8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WEBSITE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06CE0-A588-4987-B836-EC8105E6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 full dashboard system with six content areas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4D1D2-0667-4D7B-9959-74F4464E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site structure was designed to move from overview, to evidence, to creative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DA2B0-D72A-4937-B235-77A662C5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D3541-12A7-4749-BD65-2A94FA5C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F1E6E-8837-4498-9F97-446EE5B5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C82CA-5622-44CC-BC53-2CAF5BED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5AFBA-0756-4371-80FB-26F8E71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hero metrics, data volume, toolchain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09950-6FB0-4309-941E-40921EBA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C35BB-C042-4007-8F10-8E8873F8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12785-198F-4F32-9F83-8C605952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98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Trend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E5506-5A76-47B7-B929-BB1B46C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daily style signals and click drill-down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00919-7E41-42BE-A1C4-93191EA8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E3CF9-E84C-4114-B1DF-A74BC92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C879D-E2E4-4000-9F97-DD908CC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Representative 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8CBA-560D-477D-AB48-F7A30AF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image examples and visual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98A87-88CD-46E6-8A37-B78AE92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F2B15-270C-4083-A527-46760E47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10950-8386-40F0-A873-DAC0CEB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0985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Tool Benchmarks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D10B3-523F-4D13-B9DF-F6B34D13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7180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official capability matrix and tool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0F8E4-8846-4048-AF58-556130A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186C6-8631-403B-9486-7A834F6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9F42A-4786-4AB7-BB22-1D8FB8CE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Keyword 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C03FE-1DC2-42C2-911E-2777E8D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real keyword frequency and growth signals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CCDBC-069D-44E7-8669-04731BB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620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C1D1D-5807-4844-BD59-57409E71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620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D5A98-5028-4010-B88E-2F7FFDB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386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EB8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EB8D4"/>
                </a:solidFill>
                <a:latin typeface="Arial"/>
                <a:ea typeface="Arial"/>
                <a:cs typeface="Arial"/>
              </a:rPr>
              <a:t>Creative Strategy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B3515-C9E6-4488-8E90-85EAA47C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0055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recommendations, moodboard, motion preview, forecast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3AA91-96BE-494F-8BD4-52C7EFFC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67FEB0-404A-440B-AC3D-FA8C0B2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7DFB9D-29C2-47C6-8727-BD5C0C55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Real References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F690E-CEA4-4B3F-8FA4-7CBABA2B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1990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official links and trend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3B78F-CF85-4857-9327-82367168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Design logic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10D1B7-7306-4688-A77E-2967730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dashboard does not end at charts. It converts trend data into visual understanding, tool choice, and creative direction.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F6BA2-B9EC-438F-9E47-1D1290C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B1D788-5E9D-498E-9FF4-27D4249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3051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E0A94E-26A4-4233-871C-2EC4BC0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UI DESIGN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9A18D-A2DE-40F6-8B98-A4FD9A2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 modern dark dashboard with AI-themed visual cues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E3578-F281-476F-93C3-80B01A0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visual system follows the PRD direction while keeping the interface readable for data exploration.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4346A-8876-4740-B6E7-78AA2F1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052bb4eac4f9e"/>
          <a:stretch xmlns:a="http://schemas.openxmlformats.org/drawingml/2006/main"/>
        </p:blipFill>
        <p:spPr>
          <a:xfrm xmlns:a="http://schemas.openxmlformats.org/drawingml/2006/main">
            <a:off x="7508788" y="2247900"/>
            <a:ext cx="2603673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A27EC-ABF8-433A-A309-989B678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9F1BB-9C85-4A0A-A0C5-76103FF7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11CFA-C7F4-4AA4-AC5E-982B2648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Dark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82041-2139-4BFD-A7E2-DAB5C023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background uses a deep dashboard theme to make charts, metrics, and images feel unified.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C684D-6447-4631-9B51-A8F0EAD6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29FC7-E26A-4E06-94CF-FFDD437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6C42B-46FE-4DE7-A7BA-878B18AD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Neon accents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D3903-007C-49E0-A6A5-831C659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Cyan, gold, green, coral, and violet accents are used for emphasis, not decoration overload.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FBEDE-1E12-48B3-85D8-D6F1EB14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CA087-7C7B-4E06-9E50-F985AC39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50DF6-BF9D-48EF-B783-65F94E16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Sidebar navigation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89680-220F-4F72-91FB-391D7DD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Filters and page navigation are grouped to support repeated exploration.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6B2AF-875F-4B29-8DA8-88D1AD10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5B548-0B1F-4004-9426-A0C2347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93BEB-7457-407A-9123-E50897DE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719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Responsive 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E7B3E-835B-494A-B18F-DB25905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33900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Wide chart areas, compact metrics, and local image assets help the dashboard adapt for presentation and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D743F-6A6A-49AC-9B25-4AB2C058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F9589-686C-4735-9619-E06E451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4826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E8D83-E552-43AD-8900-5FF634AC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402CE-D5C5-4003-B619-F3C33AB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dashboard now uses real DiffusionDB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7958F-D311-400E-B5EC-926BA26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source is the official DiffusionDB 2M text-only metadata table, released under CC0 1.0.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82F8A-4D1B-480C-8177-BDF481A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2C014-EFEA-424C-B63A-04B57E68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ED567-0BD6-47D1-9D56-3E9C8A02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981,354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387F4-61F4-4F54-BE3C-7A4CC955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90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safe prompt records analyzed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F3F76-A05E-46AD-AF59-FCEB53B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26ED2-7691-4DE0-8DEB-E528D37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3365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Aug 06-20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3AEF6-40B6-4D7D-B635-0C50583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1990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real UTC collection 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9AA16-A255-4AD6-9154-3052946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EFB93-0EC5-4BE1-B935-7D8EDF5E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46354-6AFF-4743-A964-272F03B0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1990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tracked visual styles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D50C5-26A5-49FC-8EE4-6DA93F22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94BDC-41CC-4D07-BD12-3E0F1872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26.85%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ADEE2-D960-4729-86EC-E03D37F2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1990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tracked-style rule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3A864-2F03-4ADE-BFBE-7B9EBAF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DAD31-D72C-4CA9-B2DD-C98D583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0B0E3-7F1B-4330-BBE2-4CA0F3C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Real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7A58E-3F36-4B56-928E-D11B763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086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DiffusionDB 2M metadata.parquet</a:t>
            </a:r>
          </a:p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2,000,000 official metadata rows</a:t>
            </a:r>
          </a:p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CC0 1.0 license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EB4AD-022D-453B-AFCC-ADEC0137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56570-4694-4CF3-924F-AE64A8D3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D1589-CCEF-4BF0-A59B-00E540F3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52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Cleaning and aggregation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AFAED-7D0B-4292-84E1-CD2AC040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14850"/>
            <a:ext cx="3086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Keep valid timestamps, image_nsfw &lt; 0.1, prompt_nsfw &lt; 0.1; assign documented keyword rules; aggregate by UTC date.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803D0-23D7-485F-A282-F579600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0457B8-B49F-457F-B0FE-1652811C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6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43EB5-3A48-4A37-8973-01C39881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2133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Honest limitation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CA0C1-CB00-45EA-85FE-EE83E44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2133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source window is short. Tracked styles are a transparent analytical lens, not a complete ontology of every prompt.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40740-887A-4626-A7A4-8705264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37C3CD-1FBC-4D36-90EB-A974D2A1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3861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A7EFA-60B2-4D82-B55E-1E47CF22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TREND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BE663-964F-4861-A408-25C2F8E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Real daily prompt matches reveal the leading tracked styles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6088F-99B8-42F7-8AC3-649C442A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On 2022-08-20 UTC, 3D Render leads the tracked style ranking, followed by Anime and Cyberpunk.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798C7-28A0-4493-B3EA-50612FEE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D80B-4FAB-4691-A78E-683F3F9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3D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B372D-FB31-4419-BF99-DF162DD6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7D97-071F-4E24-A25D-1997C2C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9013-A93E-46E0-B023-472B267B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2306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BCA2E-E179-475D-AD11-1B11686F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2425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Anime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5CCD5-975F-4A6F-9FC1-0A843D0A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1475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5B5C4-01D3-490D-8B09-9686FB99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1475"/>
            <a:ext cx="1831452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7BB7E-ADD9-4EA2-B556-EBBB8B5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2425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1449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5DE20-E92D-4890-AB1B-42BF195C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4550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Cyberpunk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08DA2-366B-49F9-A5E7-A7C866B7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03600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DBBAA-29F8-4DE6-965D-07AE01C2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03600"/>
            <a:ext cx="1525578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643DF-4AED-43FD-A950-7BF3DAD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4550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1207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1688C-06A0-451D-889D-0357D58C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Retro Futurism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BCEA6-0922-460B-9B10-5AC984B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95725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61E28-97ED-4DD4-94E9-7CF39341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95725"/>
            <a:ext cx="760893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0E798-276C-402C-AE1D-D363F27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76675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602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241D3-B911-45DD-AC00-DD683581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8800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Surreal Editorial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EE128-1AA0-463D-92C5-01B4047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7850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3378B-C3D8-4269-9BB5-E838F956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7850"/>
            <a:ext cx="489146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DDA94-8770-4EBC-9CD9-A0EED44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8800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387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A959F-E6DD-4D7A-9E09-C85AC24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0925"/>
            <a:ext cx="21907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AI Cinematic Storyboard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D4F8D-3B37-4306-9973-3185D12C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9975"/>
            <a:ext cx="2914650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63804-04F4-44F2-AA44-C0991CC0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9975"/>
            <a:ext cx="487882" cy="39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D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97091-7C62-426A-88EF-CFD5FDEC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0925"/>
            <a:ext cx="552450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386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40421-A7AB-4DDC-9ACA-A91CC53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371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6CE0B-9D1E-458D-87D6-16612E2F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CC10E-3FAA-4351-8D15-6442B272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Main insight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240C22-BD24-4BBC-B162-191FFD5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3371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Rendering language is highly visible in the real prompt sample: 3D Render reaches 2,306 matched prompts on the latest date.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66A721-6724-4291-81E3-B2CFD0A2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3714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82E8A-8A2F-448A-80CC-CEE26D7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38E79-002A-432B-BEC9-24065D8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10050"/>
            <a:ext cx="3371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How the insight was found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AB724-3C00-40C3-9B06-324A3A59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72000"/>
            <a:ext cx="3371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Safety-filtered prompt matches were grouped by UTC date and tracked style, then normalized into a daily comparison index.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21B925-0341-4428-A80E-B0EEFD8E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A77E59-5A1A-441C-A4CA-C5A95FDE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6523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DAF90-305E-423C-BFC2-10B4C283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REPRESENTATIVE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5E3E8-BD24-457A-9471-CC6EDCE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Visual examples make the trend story understandable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384DC-199B-4895-995D-A6AEA65E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Each style is supported by a generated work, model label, visual evidence, and prompt starter.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9D750-9EC3-443A-B25D-02A7D80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06eb20e6c402d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05050"/>
            <a:ext cx="2324100" cy="23241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8504f53424923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6150" y="2305050"/>
            <a:ext cx="2324100" cy="23241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12d56918947af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2305050"/>
            <a:ext cx="2324100" cy="23241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c370d52414181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305050"/>
            <a:ext cx="2324100" cy="2324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FF9BA-71A7-4A4B-A577-1E4A92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Anime</a:t>
            </a:r>
          </a:p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emotion, character, color intensity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4634B-1BEA-42D1-8D85-1B80CD0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625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 Cinematic Storyboard</a:t>
            </a:r>
          </a:p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shot sequence and narrative pacing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F564E-E499-42F1-B06D-E08986CF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Luxury Fashion</a:t>
            </a:r>
          </a:p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commercial editorial composition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E806D-6B8E-4A44-8757-406A16F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Surreal Editorial</a:t>
            </a:r>
          </a:p>
          <a:p xmlns:a="http://schemas.openxmlformats.org/drawingml/2006/main">
            <a:pPr algn="ctr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visual metaphor and impossible scenes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EAA4A-8710-4E2B-8F1E-15B0C826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28462-5362-464A-A92A-2EF8B5A4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3242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EF7C7-A150-4212-AD65-842C69A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AI TOOLCHAIN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A78B4-EC8F-4D04-9251-4846AFC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dashboard replaces invented scores with factual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019FC-FB69-4917-92DD-06595A55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Official source links support the comparison. The matrix is a workflow guide, not a universal quality ranking.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E2C1C-EE5A-4DF3-B0E1-9275A310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3F02F-2C34-4384-A4CA-4C48E1EA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A8B6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8B4E3-8CC8-4073-9F36-FCF9989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A8B6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0803-E3A4-442D-88F4-783776B3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A8B6"/>
                </a:solidFill>
                <a:latin typeface="Arial"/>
                <a:ea typeface="Arial"/>
                <a:cs typeface="Arial"/>
              </a:rPr>
              <a:t>Text-to-image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F0FD7-1A55-4E92-9E5A-D5DEB9B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A8B6"/>
                </a:solidFill>
                <a:latin typeface="Arial"/>
                <a:ea typeface="Arial"/>
                <a:cs typeface="Arial"/>
              </a:rPr>
              <a:t>Image editing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491F5-4D4F-4D3D-A873-A85AF699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A8B6"/>
                </a:solidFill>
                <a:latin typeface="Arial"/>
                <a:ea typeface="Arial"/>
                <a:cs typeface="Arial"/>
              </a:rPr>
              <a:t>Image-to-video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EBB68-89F0-44C9-BE41-0D7B9EB3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07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3C08E-40A0-40B3-91F4-AFAAFCBF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Midjourney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08B30-5459-40FD-9FFA-612C48D4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Visual ideation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96C43-4EDA-4CD7-B1A6-10E51CEF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908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F8515-6B2D-48F8-A994-CF265A8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6AF7D-4D02-4B61-982C-75C8FCBB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E99A2-DBB2-46C5-B672-1AB4B69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07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8D781-07BA-4CE4-A77F-CD8C441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OpenAI Images / DALL-E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7D391-58F7-42C9-A22E-723BEFC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Instruction following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36079-DF0F-4EB0-B48D-4EB3BB97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194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8A6B4-4DC5-4BE5-B326-E403D28B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0CFC7-C7C0-4E7D-8477-ACD58E81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194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6CF0B-A082-492D-94BA-8E1B1B4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007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803DB-9BA0-4F55-A39E-DD420ED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Stable Diffusion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AE0BA-9D27-42AB-AAB2-F5C9BC78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57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Open customization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CD1F9-0686-4870-A94D-EAC911E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580A6-BC98-4083-B4E4-B7CAC4F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481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D448C-8875-4071-A56C-997A07D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F3B2F-4E51-477B-A455-6C00FA9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007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C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AE686-E363-4FCA-B044-522E895F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Adobe Firefly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1AD84-BE47-46F1-8C8C-5F42B582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Commercial workflows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73C802-7592-40B5-9A91-B1BE887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5C8BF-4062-4C34-B30B-26192214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767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07567B-B291-4397-BB52-AA955A9E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767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8B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B6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6FE13-C604-4B42-A645-165EB5DB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07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04051-066F-487C-80D4-D796F6E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Runway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2DD449-EC80-4898-867A-21E09B3E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149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Motion/video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A3BD61-8996-4A48-8FEC-084D22D5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054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029E11-244F-4312-86EA-FA99363C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054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E64A3F-C5E8-4B46-85A4-7853F540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54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C26C3E-6B2E-442D-85C0-1B88AF8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A0E46-97BB-4290-8544-A039FD7F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6119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CA79FE-02CF-41F3-818B-B1E33828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INTERACTION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7252-736E-4DCC-BB72-3D27BDC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dashboard is built to be explored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17D8D-F247-4DC6-B5B2-0BA5D5E6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Interactive controls make the project stronger for both demonstration and user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9A954-9AB9-4F8C-8487-D530FBD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325635c494512"/>
          <a:stretch xmlns:a="http://schemas.openxmlformats.org/drawingml/2006/main"/>
        </p:blipFill>
        <p:spPr>
          <a:xfrm xmlns:a="http://schemas.openxmlformats.org/drawingml/2006/main">
            <a:off x="7568521" y="2238375"/>
            <a:ext cx="2522308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4122-7580-480A-9041-9F808E1B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A2F2-35E0-4415-9924-560564F6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6F696-17B0-4254-8735-87E2598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Linked filters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33879-BD8F-4CB6-A7DA-3667CC86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Style, year, and tool selections update charts, benchmark highlights, and keyword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8C52F-4B55-41A5-A016-D5C9C3D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3199F-6C59-4DFC-96AA-42D8F67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93C76-BDB9-45BC-B3F4-A8C8CFC8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Click drill-down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E11D1-359E-428A-847B-1226F3EC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Plotly selections reveal detailed keywords, style-year context, and representative image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D018A-266B-4EA2-9F11-DC5247A3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F2556-5FD4-4CEB-B413-F78A3AA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DFFA0-5742-43F9-A146-9A06574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Random exploration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52346-B4D2-45AD-BD7E-80E3097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 demo-friendly button selects a style/date combination and generates an insight prompt.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5F33C-B174-45C4-8C6C-99451D85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E409B-B107-4C36-9401-AB3F25B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C9708-0508-42F2-9E36-9EA9FEF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Performance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3A256-F164-4F75-98EE-407D18A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960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st.cache_data and loading spinners reduce friction during repeated dashboard interaction.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01040-A534-41DD-BE40-BE66A67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4EA148-AAB4-4A21-A9F3-C846950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02733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07FD3-95A5-4A77-8B9B-CCF7219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CREATIVE STRATEGY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AD71-9F99-4B7B-950B-3B82541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site turns analysis into actionable creative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3EC88-25D5-433E-9117-BBCDFB7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This is the main differentiator from a standard chart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CADDC-0553-4CC8-9AAA-085B711D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c3e7976ef4e17"/>
          <a:stretch xmlns:a="http://schemas.openxmlformats.org/drawingml/2006/main"/>
        </p:blipFill>
        <p:spPr>
          <a:xfrm xmlns:a="http://schemas.openxmlformats.org/drawingml/2006/main">
            <a:off x="7473271" y="2209800"/>
            <a:ext cx="2522308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27297-918B-4B99-9FFD-D494D588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58B80-8553-4D7F-A322-DFA3F30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Use Case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45D56-1AE6-45C1-BD53-65749833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brand campaign, game concept, social visual, short film, product 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BE312-BFEE-4E25-991E-02394151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6D535-C10F-42BA-828A-0490C0E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Creative Direction Generator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23DD5-C062-4A46-89AC-270072C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copy-ready direction based on selected visual style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D406E-7D2E-4043-87E9-51C5EEAA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E99E5-884F-46F1-88BB-4C14DE0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Moodboard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56B23-B10E-4CEF-B514-09752A8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visual collage driven by mood, color, and theme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0DD82-95E2-4DEC-BFA3-4E9C39F5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FEEDB-FBB5-4035-A822-98FE47B4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Motion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5D294-5768-43FD-B6B1-98A5F88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GIF previews for cinematic, editorial, and luxury styles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30E61-3FCE-4F34-A8A5-CB2EAEB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88E0B-0D4D-4798-A370-657E04B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Multi-Horizon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FEF8F-8787-4547-B4C6-B4D918BF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7-, 14-, and 21-day weighted projections with momentum and uncertainty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6BD04-47AC-489A-88E5-B0CA74E9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2FD4D-DF66-4730-8F52-73AFE25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30655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2A588-4154-45FE-8B25-6CD2B52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TECHNICAL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1684-40A4-4EA9-BBFA-1E89654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source code is organized for review and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08C86-F0DC-47D6-BDB2-962E10C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implementation addresses performance, maintainability, and delivery requirements.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D6546-623B-4ADC-8E55-C96D2285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9C7EA-CFE6-40AD-928D-22C43F2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3A789-2067-434B-BF03-04E4D9B9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CCE16-28AD-48BD-9F91-AA375496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Core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1FE55-3224-4F13-97DC-0457884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895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load_data(), render_sidebar(), render_hero(), tab_trends(), tab_gallery(), tab_tools(), tab_keywords(), tab_strategy(), tab_references()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09BBC-BC8A-473D-A305-6E738709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90B1B-DD6F-47C0-9B3C-8473A11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227F7-0CAC-4C76-8FC9-9B8DB2CC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Quality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79530-000B-40ED-A8B7-A22F3DA5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895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st.cache_data for CSV loading; try/except for missing files; normalized Plotly dark theme; local assets to avoid broken external image links.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EBB10-9B92-4D24-9DAF-644D848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5A8FD-8BC3-48F1-ACF0-F7C46576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69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F873B-26E0-46B1-B4BF-F05FB8B5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D69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694"/>
                </a:solidFill>
                <a:latin typeface="Arial"/>
                <a:ea typeface="Arial"/>
                <a:cs typeface="Arial"/>
              </a:rPr>
              <a:t>Delivery package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EF8AA-BD77-489D-9F01-91FC8556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2895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app.py, data/, assets/, requirements.txt, README.md, screenshots, presentation notes, and this PowerPoint deck are synced to GitHub.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88857-F5AB-4072-8FB2-9885EEB7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C4A34-EA43-42DD-94F1-2CD478F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streamlit run app.py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4F7FB"/>
                </a:solidFill>
                <a:latin typeface="Courier New"/>
                <a:ea typeface="Courier New"/>
                <a:cs typeface="Courier New"/>
              </a:rPr>
              <a:t>streamlit run app.py --server.port 8510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4E990-ADAA-461B-BBE8-DAA8A72C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54604-918A-4D01-A0D9-7441180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577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github.com/hedan-skku/ai-visual-trend-dashboard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94CC7-6985-4010-AF48-4E66915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1B3AD-D494-48D2-895E-7BB7554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26338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031C1-2D44-4495-BF57-D7B950B3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PRD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51E57-78BA-45BA-AC3E-6D39211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Three-step development plan and final delivery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2D488-3355-46BC-BE0D-EFD7F35A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The final website follows the PRD roadmap from prototype to polished portfolio-ready dashboard.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01B67-3E3F-4165-AB6A-3FA9F492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815EA-C157-4EBD-88EF-F04FF4BD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C97EB-5567-41E5-8668-C64B926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F8140-A28A-4516-9F6C-4E7D45A6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847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Step 1: Basic Layout + Sample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B60BA-15DA-40D5-9108-82902B6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847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Create Streamlit structure, sidebar, sample data, basic charts, title sections, and dark-theme layout.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84F91-07DC-460C-8EC4-A019E6F2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F19F2-CFB1-46A1-9620-18D433E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6C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269FB-0088-4089-8D3E-3E6F15F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2847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Step 2: Charts + Interactivity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E0634-772D-4A56-9480-40F10268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47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Add advanced Plotly charts, filters, dropdowns, AI tool comparison, keyword trends, and improved UI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B0ADD-6281-492A-BE3A-B5E03F5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90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2245F-F2B0-469E-8DCA-8A9EBA5C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68FE4-6BDD-41C0-B571-09AE4C61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8479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9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9CFF"/>
                </a:solidFill>
                <a:latin typeface="Arial"/>
                <a:ea typeface="Arial"/>
                <a:cs typeface="Arial"/>
              </a:rPr>
              <a:t>Step 3: Polish + Data + Extras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ED3C6-9BB7-46ED-9E27-1B4FAB89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847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Add richer datasets, responsiveness, animations, performance optimization, final screenshots, and presentation assets.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A0C2D-7D8A-498D-8C2B-CE684C61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Final deliverables from PRD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58F9A-3722-4D19-919B-6BC89701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857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Streamlit web dashboard: completed locally and prepared for Streamlit Cloud</a:t>
            </a:r>
          </a:p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GitHub repository: completed and synced</a:t>
            </a:r>
          </a:p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GitHub Pages portfolio site: identified as an optional next publishing step</a:t>
            </a:r>
          </a:p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PRD documentation: included in this presentation narrative</a:t>
            </a:r>
          </a:p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Final presentation screenshots: included in README and presentation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34A13-8BBC-4426-9BAC-049B538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433CE-A4EB-4ADD-9035-3E1752D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236744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C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BEF417-2A92-43A7-9F2A-867638E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2D59D-D85D-4A39-AECE-EA7D327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The website presents AI visual trends as a complete research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BD872-38B0-431D-AC36-EEB420E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It connects PRD goals, data evidence, interface design, visual examples, and technical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55089-61F8-4074-9116-789E2CE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5A014-197A-469A-A69D-013567CB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981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9525">
            <a:solidFill>
              <a:srgbClr val="2436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0B40E-8148-431B-8FBC-DD25D150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Final argument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C384-4B97-424C-A79A-C74209E9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AI visual culture is moving from static style imitation toward creative direction: narrative image-making, tool-aware production, and visual strategy. The dashboard makes that shift visible through data, examples, and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9345C-3A3E-4CDF-876C-CA95328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D6C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6C9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01060-2E93-4A2C-9ED1-CDD7C04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723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extend the real-data pipeline with a longer timestamped prompt source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deploy the app publicly on Streamlit Cloud</a:t>
            </a:r>
          </a:p>
          <a:p xmlns:a="http://schemas.openxmlformats.org/drawingml/2006/main">
            <a:pPr algn="l"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- record a 1-2 minute demo video for README and final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20DB3-DCF0-46A1-9431-3D3FE3E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E8C98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8C98A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A14D7-4029-4B2A-8EC5-8CB34C1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AI Visual Trend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CC515-CDD5-46C5-9307-132E5AF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8B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B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18359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2026-06-02T12:10:21.1720000Z</dcterms:created>
  <dcterms:modified xsi:type="dcterms:W3CDTF">2026-06-02T12:10:21.1720000Z</dcterms:modified>
</coreProperties>
</file>