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02c4073d87a4468" /><Relationship Type="http://schemas.openxmlformats.org/officeDocument/2006/relationships/extended-properties" Target="/docProps/app.xml" Id="R8572e968c0aa4819" /><Relationship Type="http://schemas.openxmlformats.org/officeDocument/2006/relationships/officeDocument" Target="/ppt/presentation.xml" Id="Rfa5644d37f03413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c26e14bdfc4b8a"/>
  </p:sldMasterIdLst>
  <p:notesMasterIdLst>
    <p:notesMasterId xmlns:r="http://schemas.openxmlformats.org/officeDocument/2006/relationships" r:id="Ra7be8d38b1bc46f3"/>
  </p:notesMasterIdLst>
  <p:sldIdLst>
    <p:sldId xmlns:r="http://schemas.openxmlformats.org/officeDocument/2006/relationships" id="256" r:id="R8f0b83a2057d42ac"/>
    <p:sldId xmlns:r="http://schemas.openxmlformats.org/officeDocument/2006/relationships" id="257" r:id="R5fce3939b62441ca"/>
    <p:sldId xmlns:r="http://schemas.openxmlformats.org/officeDocument/2006/relationships" id="258" r:id="R082ea4dc8c754847"/>
    <p:sldId xmlns:r="http://schemas.openxmlformats.org/officeDocument/2006/relationships" id="259" r:id="Re4039985a95c4259"/>
    <p:sldId xmlns:r="http://schemas.openxmlformats.org/officeDocument/2006/relationships" id="260" r:id="Rcc5487f9c97945f6"/>
    <p:sldId xmlns:r="http://schemas.openxmlformats.org/officeDocument/2006/relationships" id="261" r:id="R3f0f8fd9e422477d"/>
    <p:sldId xmlns:r="http://schemas.openxmlformats.org/officeDocument/2006/relationships" id="262" r:id="Rf9109fe8474246b5"/>
    <p:sldId xmlns:r="http://schemas.openxmlformats.org/officeDocument/2006/relationships" id="263" r:id="R04eca88a7de44c07"/>
    <p:sldId xmlns:r="http://schemas.openxmlformats.org/officeDocument/2006/relationships" id="264" r:id="Rde34a0c888004f6b"/>
    <p:sldId xmlns:r="http://schemas.openxmlformats.org/officeDocument/2006/relationships" id="265" r:id="Ra98d184cf751484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c26e14bdfc4b8a" /><Relationship Type="http://schemas.openxmlformats.org/officeDocument/2006/relationships/theme" Target="/ppt/theme/theme1.xml" Id="R2148becb2ed7429d" /><Relationship Type="http://schemas.openxmlformats.org/officeDocument/2006/relationships/notesMaster" Target="/ppt/notesMasters/notesMaster1.xml" Id="Ra7be8d38b1bc46f3" /><Relationship Type="http://schemas.openxmlformats.org/officeDocument/2006/relationships/presProps" Target="/ppt/presProps.xml" Id="Rbc724c32996f4177" /><Relationship Type="http://schemas.openxmlformats.org/officeDocument/2006/relationships/viewProps" Target="/ppt/viewProps.xml" Id="R447eb92316a44917" /><Relationship Type="http://schemas.openxmlformats.org/officeDocument/2006/relationships/tableStyles" Target="/ppt/tableStyles.xml" Id="Rb2d7311c00cf4534" /><Relationship Type="http://schemas.openxmlformats.org/officeDocument/2006/relationships/slide" Target="/ppt/slides/slide1.xml" Id="R8f0b83a2057d42ac" /><Relationship Type="http://schemas.openxmlformats.org/officeDocument/2006/relationships/slide" Target="/ppt/slides/slide2.xml" Id="R5fce3939b62441ca" /><Relationship Type="http://schemas.openxmlformats.org/officeDocument/2006/relationships/slide" Target="/ppt/slides/slide3.xml" Id="R082ea4dc8c754847" /><Relationship Type="http://schemas.openxmlformats.org/officeDocument/2006/relationships/slide" Target="/ppt/slides/slide4.xml" Id="Re4039985a95c4259" /><Relationship Type="http://schemas.openxmlformats.org/officeDocument/2006/relationships/slide" Target="/ppt/slides/slide5.xml" Id="Rcc5487f9c97945f6" /><Relationship Type="http://schemas.openxmlformats.org/officeDocument/2006/relationships/slide" Target="/ppt/slides/slide6.xml" Id="R3f0f8fd9e422477d" /><Relationship Type="http://schemas.openxmlformats.org/officeDocument/2006/relationships/slide" Target="/ppt/slides/slide7.xml" Id="Rf9109fe8474246b5" /><Relationship Type="http://schemas.openxmlformats.org/officeDocument/2006/relationships/slide" Target="/ppt/slides/slide8.xml" Id="R04eca88a7de44c07" /><Relationship Type="http://schemas.openxmlformats.org/officeDocument/2006/relationships/slide" Target="/ppt/slides/slide9.xml" Id="Rde34a0c888004f6b" /><Relationship Type="http://schemas.openxmlformats.org/officeDocument/2006/relationships/slide" Target="/ppt/slides/slide10.xml" Id="Ra98d184cf751484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9160c7243a2341b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a6bca6e0a3d40c5" /><Relationship Type="http://schemas.openxmlformats.org/officeDocument/2006/relationships/notesMaster" Target="/ppt/notesMasters/notesMaster1.xml" Id="Rdc748af4096743f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e1e240f7d214d08" /><Relationship Type="http://schemas.openxmlformats.org/officeDocument/2006/relationships/notesMaster" Target="/ppt/notesMasters/notesMaster1.xml" Id="R6dea3af580d44c0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678eac0707b47c2" /><Relationship Type="http://schemas.openxmlformats.org/officeDocument/2006/relationships/notesMaster" Target="/ppt/notesMasters/notesMaster1.xml" Id="R66e09114a442488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861d8a29c64272" /><Relationship Type="http://schemas.openxmlformats.org/officeDocument/2006/relationships/notesMaster" Target="/ppt/notesMasters/notesMaster1.xml" Id="Re4586608ed67449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52ce40f631f4b94" /><Relationship Type="http://schemas.openxmlformats.org/officeDocument/2006/relationships/notesMaster" Target="/ppt/notesMasters/notesMaster1.xml" Id="R56c380d885d44ab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d32b2190b1943bc" /><Relationship Type="http://schemas.openxmlformats.org/officeDocument/2006/relationships/notesMaster" Target="/ppt/notesMasters/notesMaster1.xml" Id="R0ba8a83368c5485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6761d2a3d8040ac" /><Relationship Type="http://schemas.openxmlformats.org/officeDocument/2006/relationships/notesMaster" Target="/ppt/notesMasters/notesMaster1.xml" Id="R0a07fe4550fc4c7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c525cca1a7848a2" /><Relationship Type="http://schemas.openxmlformats.org/officeDocument/2006/relationships/notesMaster" Target="/ppt/notesMasters/notesMaster1.xml" Id="R1cd953d33ac64ce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ed3444e3c8f4ad2" /><Relationship Type="http://schemas.openxmlformats.org/officeDocument/2006/relationships/notesMaster" Target="/ppt/notesMasters/notesMaster1.xml" Id="R77e9f265857c48d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6b64608c53d4bef" /><Relationship Type="http://schemas.openxmlformats.org/officeDocument/2006/relationships/notesMaster" Target="/ppt/notesMasters/notesMaster1.xml" Id="Ra030057037b340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b55b7feb50491a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85234ab4d1c048b4" /><Relationship Type="http://schemas.openxmlformats.org/officeDocument/2006/relationships/slideLayout" Target="/ppt/slideLayouts/slideLayout2.xml" Id="R28332a3e904d471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332a3e904d471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11c9326d6c04557" /><Relationship Type="http://schemas.openxmlformats.org/officeDocument/2006/relationships/image" Target="/ppt/media/image.jpeg" Id="R54d04757817e46ed" /><Relationship Type="http://schemas.openxmlformats.org/officeDocument/2006/relationships/notesSlide" Target="/ppt/notesSlides/notesSlide1.xml" Id="Re69014d3e33046c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03d585a5804881" /><Relationship Type="http://schemas.openxmlformats.org/officeDocument/2006/relationships/notesSlide" Target="/ppt/notesSlides/notesSlide2.xml" Id="Rf5769be70ce9460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ebe60cfe1a4e70" /><Relationship Type="http://schemas.openxmlformats.org/officeDocument/2006/relationships/notesSlide" Target="/ppt/notesSlides/notesSlide3.xml" Id="R84f518d3c2c944f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08336350694637" /><Relationship Type="http://schemas.openxmlformats.org/officeDocument/2006/relationships/notesSlide" Target="/ppt/notesSlides/notesSlide4.xml" Id="Ra577c1b81122422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4206a2799c49ce" /><Relationship Type="http://schemas.openxmlformats.org/officeDocument/2006/relationships/image" Target="/ppt/media/image2.jpeg" Id="Rffef1165a70241bd" /><Relationship Type="http://schemas.openxmlformats.org/officeDocument/2006/relationships/notesSlide" Target="/ppt/notesSlides/notesSlide5.xml" Id="R658147c7c968446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7a006c28e34647" /><Relationship Type="http://schemas.openxmlformats.org/officeDocument/2006/relationships/image" Target="/ppt/media/image.png" Id="Rf01a4b391f204339" /><Relationship Type="http://schemas.openxmlformats.org/officeDocument/2006/relationships/image" Target="/ppt/media/image2.png" Id="R780bdedab3494c28" /><Relationship Type="http://schemas.openxmlformats.org/officeDocument/2006/relationships/image" Target="/ppt/media/image3.png" Id="Rdc66d7653be744d7" /><Relationship Type="http://schemas.openxmlformats.org/officeDocument/2006/relationships/image" Target="/ppt/media/image4.png" Id="R0c84d11be25440d5" /><Relationship Type="http://schemas.openxmlformats.org/officeDocument/2006/relationships/notesSlide" Target="/ppt/notesSlides/notesSlide6.xml" Id="R0db4ffb2f2e440b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b04a74ef1634229" /><Relationship Type="http://schemas.openxmlformats.org/officeDocument/2006/relationships/notesSlide" Target="/ppt/notesSlides/notesSlide7.xml" Id="R2aa1d7892a23435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6799713bc44cb7" /><Relationship Type="http://schemas.openxmlformats.org/officeDocument/2006/relationships/image" Target="/ppt/media/image3.jpeg" Id="Rb2d018b1f82348b6" /><Relationship Type="http://schemas.openxmlformats.org/officeDocument/2006/relationships/notesSlide" Target="/ppt/notesSlides/notesSlide8.xml" Id="Rf081e4cce037464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52773959c047d5" /><Relationship Type="http://schemas.openxmlformats.org/officeDocument/2006/relationships/notesSlide" Target="/ppt/notesSlides/notesSlide9.xml" Id="R802b39e776a74e3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5dde19baf474dfb" /><Relationship Type="http://schemas.openxmlformats.org/officeDocument/2006/relationships/notesSlide" Target="/ppt/notesSlides/notesSlide10.xml" Id="R249dc72e73784a7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B56CF4-80DD-41DB-A9A5-7E92BF7A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14350"/>
            <a:ext cx="521970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d04757817e46ed"/>
          <a:stretch xmlns:a="http://schemas.openxmlformats.org/drawingml/2006/main"/>
        </p:blipFill>
        <p:spPr>
          <a:xfrm xmlns:a="http://schemas.openxmlformats.org/drawingml/2006/main">
            <a:off x="7157531" y="685800"/>
            <a:ext cx="3287137" cy="3848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1059FB-7C1A-4435-B093-75FF3834D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76800"/>
            <a:ext cx="5219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91B0A6-BCF3-40E9-A57A-ED0555595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609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A78FF1-A9E3-4866-8FAC-5D48C5952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19250"/>
            <a:ext cx="5715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8C98A"/>
                </a:solidFill>
                <a:latin typeface="Arial"/>
                <a:ea typeface="Arial"/>
                <a:cs typeface="Arial"/>
              </a:rPr>
              <a:t>From prompt data to visual culture insight</a:t>
            </a:r>
          </a:p>
          <a:p xmlns:a="http://schemas.openxmlformats.org/drawingml/2006/main">
            <a:pPr algn="l">
              <a:defRPr sz="1800" b="0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8C98A"/>
                </a:solidFill>
                <a:latin typeface="Arial"/>
                <a:ea typeface="Arial"/>
                <a:cs typeface="Arial"/>
              </a:rPr>
              <a:t>从提示词数据到 AI 视觉趋势洞察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BD477B-72B1-476F-9266-CA91875FE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05100"/>
            <a:ext cx="53340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Interactive Streamlit dashboard for AI-generated visual trends</a:t>
            </a:r>
          </a:p>
          <a:p xmlns:a="http://schemas.openxmlformats.org/drawingml/2006/main">
            <a: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- 22,050 structured prompt signals across 10 visual styles</a:t>
            </a:r>
          </a:p>
          <a:p xmlns:a="http://schemas.openxmlformats.org/drawingml/2006/main">
            <a: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Tool benchmarks, representative works, motion previews, and forecast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5227B2-47D4-4F71-93F5-063A12C1B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76750"/>
            <a:ext cx="323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B22"/>
          </a:solidFill>
          <a:ln xmlns:a="http://schemas.openxmlformats.org/drawingml/2006/main" w="9525">
            <a:solidFill>
              <a:srgbClr val="39D6C9"/>
            </a:solidFill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Streamlit + Pandas + Plotly + local AI assets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98F35F-76A1-453E-B765-62B25B3CC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CF6D87-34E5-4D4F-BC82-BDAACFE33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71031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8742303-48FB-4663-BCBB-A6DF3D383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PROBLEM FRAMING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2BBFF1-DA88-4B88-A1C6-075880A9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7239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AI visual trends are hard to understand from charts alone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38027E-40F9-4B93-9C4C-A77DD8922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The project combines data, examples, and tool context so users can see what a trend actually means.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34E2A0-AD4E-464B-BD96-1672E5D0B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1CA2A0-3ADC-426F-A0E7-0150FCB0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2190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F4E6B9-53E9-4480-8707-37F51A038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90800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22,050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2E3B1C-AF14-4824-892A-E6AD696EE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1847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prompt signals analyzed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C1BC9B-F4B4-4F90-9A3A-8A8895357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419350"/>
            <a:ext cx="2190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E64E2B-8EBB-4717-AA41-3612D1B48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590800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1FE4A6-54E3-4457-BD46-C91C173B8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28950"/>
            <a:ext cx="1847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tracked visual styles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FE26C9-A704-483B-B7B1-E591B6BB8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419350"/>
            <a:ext cx="2190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5DDE61-B333-4027-98EF-32E7B709D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590800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99C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B99C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2050B9-A05F-4537-B738-8E4BDFF8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028950"/>
            <a:ext cx="1847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tools benchmarked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33AFA1-BCF6-456C-BD56-EB52620E4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41935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927CEE-D0D5-43F0-ABB2-635C405D2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90800"/>
            <a:ext cx="2228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8FD694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8FD694"/>
                </a:solidFill>
                <a:latin typeface="Arial"/>
                <a:ea typeface="Arial"/>
                <a:cs typeface="Arial"/>
              </a:rPr>
              <a:t>2025-27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1C01F3-4886-4719-91F3-9EB9C9810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289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exploratory forecast window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19F47E-66B1-48C2-A26C-CDB21BB5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Target users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A2CE52-AD2C-4539-9D2A-D9CEA7812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5334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designers looking for visual references</a:t>
            </a:r>
          </a:p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art directors comparing tools and style directions</a:t>
            </a:r>
          </a:p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students researching AI-generated visual culture</a:t>
            </a:r>
          </a:p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creators building prompt and moodboard concepts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176AE9-0E82-41F0-8400-34E9DA82F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957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Core design choice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419BA0-C741-4EBA-B98F-7ABF6D324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476750"/>
            <a:ext cx="4095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A dashboard should not only report which style is popular. It should explain why the style is meaningful and how it can be used in real creative work.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5E48A0-583F-4943-8108-72E518703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940DA2-3272-4ECB-A1AB-81F914B85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309242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DBE28DA-2A6B-414D-B78F-FF258B4D1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DATA CREDIBILITY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AC5C73-3EBF-46A5-B6BA-B29E6A11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7239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A self-contained dataset with a real Kaggle-ready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8E7B52-9189-4E0B-96C9-F428E7D0B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The included CSVs are semi-real demonstration aggregates, structured so they can be replaced by a Kaggle Stable Diffusion prompt export.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59FFEF-E858-457A-8292-98DB2B0E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868BBB-729E-496C-96B4-596C72EC2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476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19050">
            <a:solidFill>
              <a:srgbClr val="39D6C9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C4B708-3906-4E71-A96C-411E32162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2171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1. Source signals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07C61C-744E-430C-81ED-08374425B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52750"/>
            <a:ext cx="2171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Stable Diffusion prompt structures, Lexica-style tags, public AI tool categories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E70B6F-B013-4F15-9B8D-0D7569164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76500"/>
            <a:ext cx="2476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19050">
            <a:solidFill>
              <a:srgbClr val="E8C98A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AED131-1331-41A1-92BB-FF7112D17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609850"/>
            <a:ext cx="2171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2. Cleaning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C3BFD7-1EBB-472A-A4E7-3A63FC864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952750"/>
            <a:ext cx="2171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deduplicate keyword groups, exclude unsafe categories, normalize style labels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FD1161-8403-4050-855D-A81CD134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76500"/>
            <a:ext cx="2476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19050">
            <a:solidFill>
              <a:srgbClr val="B99CF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D8A803-CDEA-4F2F-B3A3-483EFD0A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09850"/>
            <a:ext cx="2171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99C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B99CFF"/>
                </a:solidFill>
                <a:latin typeface="Arial"/>
                <a:ea typeface="Arial"/>
                <a:cs typeface="Arial"/>
              </a:rPr>
              <a:t>3. Aggregation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EF0366-09D3-43CA-A15B-16EA869D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2171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group by year, style, tool, keyword, and creative intent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4FD399-452E-4C94-89DC-B02B994C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476500"/>
            <a:ext cx="2095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19050">
            <a:solidFill>
              <a:srgbClr val="8FD69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557544-BC52-4871-9A3A-9662B871D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60985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FD69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8FD694"/>
                </a:solidFill>
                <a:latin typeface="Arial"/>
                <a:ea typeface="Arial"/>
                <a:cs typeface="Arial"/>
              </a:rPr>
              <a:t>4. Dashboard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B4F7ED-A31C-4167-A5BE-A99413E30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952750"/>
            <a:ext cx="1790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filters, drill-down, charts, gallery, recommendations, forecast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85455A-7ACB-4D6D-8827-56C41C01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02895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644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5363A8-F1F1-4CD0-9F63-7EA0FAD7B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2895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644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86B8F6-0F92-4708-BADB-7730A44BF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457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644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65FE20-777A-4B80-BC15-ED69C011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67200"/>
            <a:ext cx="3048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Data boundary statement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2E4914-035D-46A0-8774-6BAA92EC8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533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Current data is a structured semi-real dataset for project demonstration. The schema is intentionally compatible with a real Kaggle prompt export or original prompt log.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2DDA91-A0B7-4516-BAB1-BF60518A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267200"/>
            <a:ext cx="2476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Why this matters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7CD031-3B18-4860-BF68-3563DC370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667250"/>
            <a:ext cx="4191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teacher can inspect the CSV pipeline</a:t>
            </a:r>
          </a:p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app does not depend on hidden APIs</a:t>
            </a:r>
          </a:p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future replacement data keeps the same code path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D0891F-C8C3-4699-98A5-BA12CFF9C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EDDEB3-7835-4113-ADE2-049579527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915749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A19346-3227-4EEA-9794-349CCFDF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KEY INSIGHT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AA192-E280-4851-90A1-77070D1B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7239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2024 signals favor Anime, while narrative styles are accelerating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D4C7C5-AAAE-429D-8C19-FBA185DEB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The ranking suggests AI visual culture is shifting from static aesthetics toward character, story, video, and believable image-making.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93A78D-3FE9-48FB-8AA3-F2FBFD0BD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736E0A-9A80-4175-AA5D-115E7E9AC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219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Anime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A01849-C69D-4373-8058-0EA5B2B2C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381250"/>
            <a:ext cx="2905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B23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A3F08D-19E3-4AAD-9B2E-441C51366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381250"/>
            <a:ext cx="2905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0CB68D-EF85-4674-97FE-B440C22F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62200"/>
            <a:ext cx="552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950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AA897D-98BF-4EAB-ABC6-5D17941E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57500"/>
            <a:ext cx="219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AI Cinematic Storyboard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F44761-2A1E-46CC-932F-583E7787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876550"/>
            <a:ext cx="2905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B23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BBC6B-B375-45A7-8FF3-DB25AC1B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876550"/>
            <a:ext cx="2629903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EDEF79-371D-400C-8F8E-DF874CB85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57500"/>
            <a:ext cx="552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860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823DC4-14F2-4127-9230-B6A0CF559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52800"/>
            <a:ext cx="219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Cyberpunk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21E83-09EF-4DB3-B0D0-B1283D7FB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371850"/>
            <a:ext cx="2905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B2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405485-EC8B-40B8-919F-B3C88140A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371850"/>
            <a:ext cx="2507582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B6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C8C5B4-3C39-4E90-A709-4B50377DC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52800"/>
            <a:ext cx="552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820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248F7D-9FE3-48DB-AB18-CD434265E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48100"/>
            <a:ext cx="219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Luxury Fashion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B662A9-5E6C-4C72-9B04-3DA592541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867150"/>
            <a:ext cx="2905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B23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CD8B17-13D4-45E3-A34A-0036FB66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867150"/>
            <a:ext cx="2415841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9CFF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1C1A63-A56D-4D4E-8F9F-A1217E2D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48100"/>
            <a:ext cx="552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790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8FA96F-D145-4EB9-BBA2-FEDE0105A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43400"/>
            <a:ext cx="219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3D Render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37CBE8-2CA5-4B02-B737-81492785B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362450"/>
            <a:ext cx="2905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B23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DCC431-58CE-4755-8B2A-99F2599EE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362450"/>
            <a:ext cx="2324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D694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B45D78-BFD7-4331-AA99-A3E50B90C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343400"/>
            <a:ext cx="552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760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3F0CF3-2820-4E0C-8D84-AE68BAE3C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2190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Surreal Editorial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136F6B-9A63-47CF-A7AD-7289F1F66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857750"/>
            <a:ext cx="29051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B23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5ED707-AE7A-40C5-9D06-91F2043C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857750"/>
            <a:ext cx="2110038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B8D4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52FF40F-226E-4478-B511-951472C2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38700"/>
            <a:ext cx="552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ctr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690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A592A4-F9CE-42DD-A6F6-904B8891C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419350"/>
            <a:ext cx="371475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C5B5AF-7D3E-4753-926D-AE8CEC7EA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64795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6276E94-0B12-4BD1-AF8E-462C8BA01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105150"/>
            <a:ext cx="3048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Anime leads 2024 sample volume with 950 signals</a:t>
            </a:r>
          </a:p>
          <a:p xmlns:a="http://schemas.openxmlformats.org/drawingml/2006/main">
            <a:pPr algn="l">
              <a:defRPr sz="135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AI Cinematic Storyboard reaches 860 and signals video-oriented thinking</a:t>
            </a:r>
          </a:p>
          <a:p xmlns:a="http://schemas.openxmlformats.org/drawingml/2006/main">
            <a:pPr algn="l">
              <a:defRPr sz="135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Cyberpunk remains strong through lighting, atmosphere, and city-scape language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197416-4551-49BB-BCBF-909503CAB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0340FBC-8212-4610-88F5-AD800156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552103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BBC108-6FB9-4CAC-82C3-156F6CC9A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PRODUCT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EF6CEF-AE6F-48E4-A75B-149067578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7239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The dashboard is designed to be explored, not only viewed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7916A1-4110-4E00-BF80-208E995B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Filters, chart selection, and random exploration turn the data into a live presentation tool.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605ED4-728E-4ECC-A4D3-CE75E75E8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ef1165a70241bd"/>
          <a:srcRect xmlns:a="http://schemas.openxmlformats.org/drawingml/2006/main" l="0" t="24690" r="0" b="246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2305050"/>
            <a:ext cx="5143500" cy="30480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3C514C-44A1-4501-83B9-5A9FA084B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05050"/>
            <a:ext cx="47625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908C9F-95CC-4E52-88F4-41BD031D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5270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Interactive features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024F24-CBAE-465E-B27C-3CA15A59E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48000"/>
            <a:ext cx="38100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linked sidebar filters for style, year, tool, and benchmark priority</a:t>
            </a:r>
          </a:p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Plotly chart click drill-down for selected style/year evidence</a:t>
            </a:r>
          </a:p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random exploration button for stronger live demo rhythm</a:t>
            </a:r>
          </a:p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cached CSV loading and friendly error handling</a:t>
            </a:r>
          </a:p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unified dark Plotly theme matching the Streamlit UI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960C8B-EBA8-400E-99CF-1E8BACDC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C5F8E9-FB23-4DC5-B8E8-3FB6D1A1F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916268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B5936D-E662-44B8-840F-545E8FE8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REPRESENTATIVE WORKS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3ACD3D-1871-485E-AC65-8BB202DCC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7239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Visual evidence makes the trend analysis more persuasive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D921A0-5CB0-4C6E-9B3C-D575E34B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Each style is paired with a generated work, model label, visual evidence, and prompt starter.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7CF132-58C7-4E46-A8EA-BD003A4DC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1a4b391f204339"/>
          <a:srcRect xmlns:a="http://schemas.openxmlformats.org/drawingml/2006/main" l="12500" t="0" r="125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2247900"/>
            <a:ext cx="2381250" cy="2381250"/>
          </a:xfrm>
          <a:prstGeom xmlns:a="http://schemas.openxmlformats.org/drawingml/2006/main" prst="rect">
            <a:avLst/>
          </a:prstGeom>
        </p:spPr>
      </p:pic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0bdedab3494c28"/>
          <a:srcRect xmlns:a="http://schemas.openxmlformats.org/drawingml/2006/main" l="12500" t="0" r="125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29000" y="2247900"/>
            <a:ext cx="2381250" cy="2381250"/>
          </a:xfrm>
          <a:prstGeom xmlns:a="http://schemas.openxmlformats.org/drawingml/2006/main" prst="rect">
            <a:avLst/>
          </a:prstGeom>
        </p:spPr>
      </p:pic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66d7653be744d7"/>
          <a:srcRect xmlns:a="http://schemas.openxmlformats.org/drawingml/2006/main" l="12500" t="0" r="125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53150" y="2247900"/>
            <a:ext cx="2381250" cy="2381250"/>
          </a:xfrm>
          <a:prstGeom xmlns:a="http://schemas.openxmlformats.org/drawingml/2006/main" prst="rect">
            <a:avLst/>
          </a:prstGeom>
        </p:spPr>
      </p:pic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84d11be25440d5"/>
          <a:srcRect xmlns:a="http://schemas.openxmlformats.org/drawingml/2006/main" l="12500" t="0" r="125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77300" y="2247900"/>
            <a:ext cx="2381250" cy="23812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FA4F5C-39F8-4B92-8B61-3C1AD12D7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625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Anime</a:t>
            </a:r>
          </a:p>
          <a:p xmlns:a="http://schemas.openxmlformats.org/drawingml/2006/main">
            <a:pPr algn="ctr">
              <a:defRPr sz="12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character emotion + color intensity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3DDA70-F48B-4718-B317-3DF0F4BC2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7625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AI Cinematic Storyboard</a:t>
            </a:r>
          </a:p>
          <a:p xmlns:a="http://schemas.openxmlformats.org/drawingml/2006/main">
            <a:pPr algn="ctr">
              <a:defRPr sz="12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shot language + sequence thinking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72CCB7-9C56-4B2E-8F9A-237BD6952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7625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Luxury Fashion</a:t>
            </a:r>
          </a:p>
          <a:p xmlns:a="http://schemas.openxmlformats.org/drawingml/2006/main">
            <a:pPr algn="ctr">
              <a:defRPr sz="12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brand-safe editorial composition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4715F4-7E4C-4C15-A5FD-EABE2519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762500"/>
            <a:ext cx="2381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Surreal Editorial</a:t>
            </a:r>
          </a:p>
          <a:p xmlns:a="http://schemas.openxmlformats.org/drawingml/2006/main">
            <a:pPr algn="ctr">
              <a:defRPr sz="120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impossible scene + visual metaphor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97D2E8-770B-421E-8CD8-2FC95534E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FB9DAB-CF22-4745-953A-4114C0B63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6226898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A95B22-8D74-4AA9-8E5C-6F0070DD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AI TOOLCHAIN BENCHMARK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CBB39C-FF21-4C81-877B-50699BD4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7239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A horizontal comparison explains where each tool fits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365AC8-E29C-4B76-8D27-94DFA7312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Instead of ranking tools as simply good or bad, the dashboard maps them to production roles.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C594E9-355A-43AE-8D10-85BD6B42F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6F016D-779A-4B7B-A34B-FB85D77B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8600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AA8B6"/>
                </a:solidFill>
                <a:latin typeface="Arial"/>
                <a:ea typeface="Arial"/>
                <a:cs typeface="Arial"/>
              </a:rPr>
              <a:t>Tool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90DCBC-F745-467E-97C8-B40418CE6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2860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AA8B6"/>
                </a:solidFill>
                <a:latin typeface="Arial"/>
                <a:ea typeface="Arial"/>
                <a:cs typeface="Arial"/>
              </a:rPr>
              <a:t>Best fit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4D02FC-14D2-4481-B1EF-C8A9E452A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286000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AA8B6"/>
                </a:solidFill>
                <a:latin typeface="Arial"/>
                <a:ea typeface="Arial"/>
                <a:cs typeface="Arial"/>
              </a:rPr>
              <a:t>Popularity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CC2A45-B8A2-4AC5-A193-91D7112B1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86000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AA8B6"/>
                </a:solidFill>
                <a:latin typeface="Arial"/>
                <a:ea typeface="Arial"/>
                <a:cs typeface="Arial"/>
              </a:rPr>
              <a:t>Quality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FEB3DA-F308-415A-9F0D-521AEF1C8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286000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AA8B6"/>
                </a:solidFill>
                <a:latin typeface="Arial"/>
                <a:ea typeface="Arial"/>
                <a:cs typeface="Arial"/>
              </a:rPr>
              <a:t>Creativity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A16EB5-E5DB-4183-B200-CA617719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100774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508C15-64BB-465A-8C5E-2FA7003C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Midjourney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C93FFF-D801-4A90-BB50-146A3586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7813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Art direction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4003B9-0877-411A-8904-10BAB4229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84797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D47876-2011-47FD-9E8D-845D94E2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847975"/>
            <a:ext cx="858774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758752-FFCD-4C90-A4D3-3918E5B63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5272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92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791A86-23F5-441C-AF65-BEAA35005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4797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5A43F8-53AB-4621-B835-2BC9642C7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47975"/>
            <a:ext cx="886778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FB15E5-656C-47DE-AEC2-EA77748AC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75272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95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CAC65F-49DD-4E1A-80F4-78F46A3BD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4797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693671-4FC2-4326-9021-3C9F05C5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47975"/>
            <a:ext cx="914781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277C15-1B0B-4756-9664-F54D0C2F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75272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98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EC6D85-72E1-4ED0-8933-D610118E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14700"/>
            <a:ext cx="100774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1AE82C-EC55-49D9-9AC3-DB855EB3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DALL-E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191D75-CE44-4497-A4D9-6AC6B8868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4099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Rapid ideation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ADEAF0-E13B-4466-9EAE-751A07CE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47662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61F61F-3875-4436-BE99-EE715B07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476625"/>
            <a:ext cx="765429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AF3D80-A34D-4B5F-AB18-E60475858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8137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82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2D0DF1-15C2-4848-94E6-A36611AD6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7662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E735C4-B385-4010-9DA4-B1CA2A352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76625"/>
            <a:ext cx="802767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D83212-68CD-41D1-9BFD-501DD27A1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8137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86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658543-90A3-4852-A31E-B6324E681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7662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7360DD6-6EFA-4BE8-9043-5AC1926C1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76625"/>
            <a:ext cx="821436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D6C9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EC92AA-D1F2-4628-A85B-20562640A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38137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88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19884B-2BF7-4797-9381-429E322B0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100774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834A98-4DE4-4CA3-BD0F-DC859748E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3860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FD69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8FD694"/>
                </a:solidFill>
                <a:latin typeface="Arial"/>
                <a:ea typeface="Arial"/>
                <a:cs typeface="Arial"/>
              </a:rPr>
              <a:t>Stable Diffusion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E1FA70-1C10-476A-AC31-1545907C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0386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Custom workflow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1F2864B-D4C4-4121-8305-05C129F74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10527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DD9D07A-B905-41C7-A2F9-447ADF49C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105275"/>
            <a:ext cx="802767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D694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9D698D2-1906-4F2A-8EA1-086854C0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1002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86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375B7A5-2FD0-49DD-A14D-C882CABFF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10527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10B1829-BE81-4A13-88D0-2D042CDB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105275"/>
            <a:ext cx="774764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D694"/>
          </a:solidFill>
          <a:ln xmlns:a="http://schemas.openxmlformats.org/drawingml/2006/main" w="0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36FBCFB-DDD6-407F-A559-5E36CB879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01002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83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F26448C-3D14-48C6-B2B1-108C47E0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10527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B9C8823-B53E-47D8-8290-60F756BB1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105275"/>
            <a:ext cx="812102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D694"/>
          </a:solidFill>
          <a:ln xmlns:a="http://schemas.openxmlformats.org/drawingml/2006/main" w="0">
            <a:noFill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81EF643-B27F-4155-9930-A1A519116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01002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87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F790299-D63C-45D2-8CE3-B81B4230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72000"/>
            <a:ext cx="100774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51C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B49BCC6-EEEF-4B04-B0ED-0830C24D4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8B6A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8B6A"/>
                </a:solidFill>
                <a:latin typeface="Arial"/>
                <a:ea typeface="Arial"/>
                <a:cs typeface="Arial"/>
              </a:rPr>
              <a:t>Adobe Firefly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3A43908-D2B0-46E9-9B48-6AE8AE45E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6725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Commercial design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54D4B62-E74C-438A-9ACE-83A9E3325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3392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021C7B5-74CD-405A-8879-7143FA43E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33925"/>
            <a:ext cx="672084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B6A"/>
          </a:solidFill>
          <a:ln xmlns:a="http://schemas.openxmlformats.org/drawingml/2006/main" w="0">
            <a:noFill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F706AF5-DCF0-48AC-8616-26509169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3867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72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87D9D44-740E-4B4E-AC43-7B6D56648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3392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D5FD2DF-0C63-45BC-BD11-B2BD979EC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33925"/>
            <a:ext cx="74676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B6A"/>
          </a:solidFill>
          <a:ln xmlns:a="http://schemas.openxmlformats.org/drawingml/2006/main" w="0">
            <a:noFill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194AF0E-56E1-4A6B-9B3E-77AE906D3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63867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C67208D-3E26-4F0D-BB2B-1AAB8E418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73392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5651CE3-54BD-44B4-AA64-D7F6B3285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733925"/>
            <a:ext cx="690753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B6A"/>
          </a:solidFill>
          <a:ln xmlns:a="http://schemas.openxmlformats.org/drawingml/2006/main" w="0">
            <a:noFill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B5CDF52-56B3-4BEF-A16C-4133CAC10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63867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74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820D5E5-B106-407D-A7F3-C08B4483B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00650"/>
            <a:ext cx="100774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BEE9DFF-2691-4A6A-889F-116C0215E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9590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9C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9CFF"/>
                </a:solidFill>
                <a:latin typeface="Arial"/>
                <a:ea typeface="Arial"/>
                <a:cs typeface="Arial"/>
              </a:rPr>
              <a:t>Runway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C2B9394-0D68-4850-ABE7-2CA6144E6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2959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Motion/video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AF5E5C4-6DAF-440C-9BD4-EC4939AA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36257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07E5E59-82E1-4842-AD4E-283E9EE04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362575"/>
            <a:ext cx="737426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9CFF"/>
          </a:solidFill>
          <a:ln xmlns:a="http://schemas.openxmlformats.org/drawingml/2006/main" w="0">
            <a:noFill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A39A958-6991-4D71-A343-535B3C2ED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26732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79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0E150EF-2369-4ADE-8842-49BEE8D5A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6257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7ADA9CB-C633-46CC-8320-5CB7512D7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62575"/>
            <a:ext cx="812102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9CFF"/>
          </a:solidFill>
          <a:ln xmlns:a="http://schemas.openxmlformats.org/drawingml/2006/main" w="0">
            <a:noFill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E46CD2B-E5DB-46B5-B1D9-8FE94AF09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26732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87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D513AF3-2188-4FAC-A709-C25D8F288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362575"/>
            <a:ext cx="933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C36"/>
          </a:solidFill>
          <a:ln xmlns:a="http://schemas.openxmlformats.org/drawingml/2006/main" w="0">
            <a:noFill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3785FB3-585A-4FDA-9617-B0A4C5CCE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362575"/>
            <a:ext cx="84010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9CFF"/>
          </a:solidFill>
          <a:ln xmlns:a="http://schemas.openxmlformats.org/drawingml/2006/main" w="0">
            <a:noFill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3BBCF77-8F31-43D2-941E-35FCC396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267325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90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28E89B1-5638-48CF-A223-1202C9B82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C2DE055-9D3A-4D34-8477-EB2F48BCB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76124727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53670C-A49C-45D2-9534-2AD2F652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UNIQUE FEATURES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ED56AD-F209-4FC2-89F2-ED2570AE4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7239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The project connects analytics with creative decision-making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6C8A1E-F2D1-41A1-B48B-AA5134B5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This is where the dashboard becomes more than a chart page.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D60270-2D84-45DC-B1FF-CE1C28F12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018b1f82348b6"/>
          <a:srcRect xmlns:a="http://schemas.openxmlformats.org/drawingml/2006/main" l="7359" t="0" r="735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96050" y="2190750"/>
            <a:ext cx="4476750" cy="2952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948995-0E7C-40CD-972A-70ED654D9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C0FC01-8204-492D-BA95-ABB3C46EF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5267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Use Case Recommendation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544C4D-FF9E-4FFB-81C3-97BC1681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717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brand campaign, game concept, social visual, short film, product render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CEE796-8D85-4561-A8F9-D5E68273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F08C0D-CD9F-4083-B304-2D0845387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956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Creative Direction Generator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C61AAD-A303-4EFD-B120-F00D92C9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147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copy-ready prompt direction for selected visual style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1E696A-5CE6-491F-9092-73C1A15A8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F9EFEF-5C20-44C1-B780-587B4A40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3857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Moodboard Preview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F93ED2-6050-4A1D-B71B-CD58A38D5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576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visual collage that changes with mood, color, and theme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FBAA7F-64A1-4A37-9C94-90CA50572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9580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7B1D12-B288-4F24-AF3C-AE1821F30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815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Motion Preview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EFD1E0-AA7D-46DF-984F-DA5883139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0060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GIF previews for cinematic, editorial, and luxury cases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A5CD5C-CC23-4A73-89CE-E978D8D8D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942043-70BF-4095-BAC1-7EAF8D9DE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2282596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6B23B56-4EA5-4229-B817-6EAD85B1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TECHNICAL IMPLEMENTATION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75FE22-C40D-4AD5-94B3-2C4080ED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7239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The code is structured for maintainability and assessment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D36F64-72A4-4BC4-85D1-4ED0935D6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The app was refactored into focused functions, with cache, error handling, and deployment-ready files.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CC64F6-F862-4E0E-B934-0344A0838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3DC494-798B-49C6-99BF-AA193D701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2476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19050">
            <a:solidFill>
              <a:srgbClr val="39D6C9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BF30C5-981E-4A08-A2CD-E162F61F3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09850"/>
            <a:ext cx="2171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load_data()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B047C9-2A21-4CF0-B337-08F6D08F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52750"/>
            <a:ext cx="2171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cached CSV loading, validation, friendly fallback messages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B0B2C8-ECFF-4C36-82D8-3C00A687C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76500"/>
            <a:ext cx="2476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19050">
            <a:solidFill>
              <a:srgbClr val="E8C98A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AF2117-7401-4681-8579-F076A732E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609850"/>
            <a:ext cx="2171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render_sidebar()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055A6D-A72C-4EEB-BBBF-A2459F904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52750"/>
            <a:ext cx="2171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persistent state, linked filters, random exploration control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2E9278-3D1C-4710-83F7-344AB0F3B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76500"/>
            <a:ext cx="2476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19050">
            <a:solidFill>
              <a:srgbClr val="B99CF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1F0BA-FFFF-4F74-A369-992013F7E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609850"/>
            <a:ext cx="2171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99C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B99CFF"/>
                </a:solidFill>
                <a:latin typeface="Arial"/>
                <a:ea typeface="Arial"/>
                <a:cs typeface="Arial"/>
              </a:rPr>
              <a:t>tab_trends()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8B32D1-6F51-4D00-911E-85D031A1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952750"/>
            <a:ext cx="2171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Plotly chart selection and evidence drill-down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5552AC-8470-4415-9F2D-53290ADB7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476500"/>
            <a:ext cx="2095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19050">
            <a:solidFill>
              <a:srgbClr val="8FD69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A9B28C-2409-4779-B6EC-2D6F6C9C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60985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FD694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8FD694"/>
                </a:solidFill>
                <a:latin typeface="Arial"/>
                <a:ea typeface="Arial"/>
                <a:cs typeface="Arial"/>
              </a:rPr>
              <a:t>tab_strategy()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DC4FAA-9875-4958-A28B-DDD037875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952750"/>
            <a:ext cx="1790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recommendations, moodboard, motion preview, forecast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E20A51-C6D4-4687-93B8-69E37D57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8625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Submission files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A6D6DD-949A-4A3D-8E13-7D611A20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86300"/>
            <a:ext cx="4953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README with screenshots and run instructions</a:t>
            </a:r>
          </a:p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requirements.txt for Streamlit Cloud</a:t>
            </a:r>
          </a:p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data/ CSV files and assets/ local images</a:t>
            </a:r>
          </a:p>
          <a:p xmlns:a="http://schemas.openxmlformats.org/drawingml/2006/main">
            <a:pPr algn="l">
              <a:defRPr sz="1425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presentation notes and submission checklist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A9BDB3-F87D-4D8D-B1CE-E3AD444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862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Run command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5BC00F-DB3D-41C4-85B9-EA0AB947B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86300"/>
            <a:ext cx="39052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4F7FB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F4F7FB"/>
                </a:solidFill>
                <a:latin typeface="Courier New"/>
                <a:ea typeface="Courier New"/>
                <a:cs typeface="Courier New"/>
              </a:rPr>
              <a:t>streamlit run app.py</a:t>
            </a:r>
          </a:p>
          <a:p xmlns:a="http://schemas.openxmlformats.org/drawingml/2006/main">
            <a:pPr algn="l">
              <a:defRPr sz="1650" b="0">
                <a:solidFill>
                  <a:srgbClr val="F4F7FB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F4F7FB"/>
                </a:solidFill>
                <a:latin typeface="Courier New"/>
                <a:ea typeface="Courier New"/>
                <a:cs typeface="Courier New"/>
              </a:rPr>
              <a:t>or</a:t>
            </a:r>
          </a:p>
          <a:p xmlns:a="http://schemas.openxmlformats.org/drawingml/2006/main">
            <a:pPr algn="l">
              <a:defRPr sz="1650" b="0">
                <a:solidFill>
                  <a:srgbClr val="F4F7FB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F4F7FB"/>
                </a:solidFill>
                <a:latin typeface="Courier New"/>
                <a:ea typeface="Courier New"/>
                <a:cs typeface="Courier New"/>
              </a:rPr>
              <a:t>streamlit run app.py --server.port 8510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9AA5CB-21FA-463B-B524-F18B7D70B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C71202-A1BC-4FE3-BB42-55628E3A5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556933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80C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20534E-DFEA-4AA7-8B80-9940CBCC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CONCLUSION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AA9D8C-846A-41FE-9DC2-E4B507BD0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7239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F4F7FB"/>
                </a:solidFill>
                <a:latin typeface="Arial"/>
                <a:ea typeface="Arial"/>
                <a:cs typeface="Arial"/>
              </a:rPr>
              <a:t>AI visual culture is moving from style imitation to creative direction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9B1A1D-836C-4B7F-A562-3EDFB62A2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7239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The dashboard demonstrates a full research workflow: data signals, tool context, visual examples, and strategic interpretation.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FFEE4D-EA54-40F3-B447-789C6FCF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428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98A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0238A8-91D4-4320-9545-8E59191E3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62200"/>
            <a:ext cx="9810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22B"/>
          </a:solidFill>
          <a:ln xmlns:a="http://schemas.openxmlformats.org/drawingml/2006/main" w="9525">
            <a:solidFill>
              <a:srgbClr val="24364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71E6C3-AE4C-4F74-B010-33F6571F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479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Final insight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624AAB-7FB2-4946-AF7C-35257B708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0515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Anime leads the 2024 sample volume, Cyberpunk remains competitive through cinematic atmosphere, and emerging categories such as AI Cinematic Storyboard and Documentary Realism suggest a shift toward narrative and video-oriented image-making.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F0021A-786F-448A-9EEB-65903F48A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76250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9D6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9D6C9"/>
                </a:solidFill>
                <a:latin typeface="Arial"/>
                <a:ea typeface="Arial"/>
                <a:cs typeface="Arial"/>
              </a:rPr>
              <a:t>Next improvement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5CEA77-888D-4892-8419-A3CD43DAE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162550"/>
            <a:ext cx="7239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replace the semi-real CSV with a full Kaggle prompt export</a:t>
            </a:r>
          </a:p>
          <a:p xmlns:a="http://schemas.openxmlformats.org/drawingml/2006/main">
            <a: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deploy publicly on Streamlit Cloud</a:t>
            </a:r>
          </a:p>
          <a:p xmlns:a="http://schemas.openxmlformats.org/drawingml/2006/main">
            <a:pPr algn="l">
              <a:defRPr sz="1500" b="0">
                <a:solidFill>
                  <a:srgbClr val="F4F7F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4F7FB"/>
                </a:solidFill>
                <a:latin typeface="Arial"/>
                <a:ea typeface="Arial"/>
                <a:cs typeface="Arial"/>
              </a:rPr>
              <a:t>- record a 1-2 minute demo video for README and presentation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39525B-D0AE-40BD-922B-3561E4794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334000"/>
            <a:ext cx="2095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E8C98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E8C98A"/>
                </a:solidFill>
                <a:latin typeface="Arial"/>
                <a:ea typeface="Arial"/>
                <a:cs typeface="Arial"/>
              </a:rPr>
              <a:t>Thank you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60559D-FB29-45E7-AB47-631F5F68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AI Visual Trend Dashboard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DF68AD-A6BD-4B72-BDF1-C8E73AECD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14300" tIns="76200" rIns="114300" bIns="7620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AA8B6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AA8B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744519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2026-05-30T11:05:00.4380000Z</dcterms:created>
  <dcterms:modified xsi:type="dcterms:W3CDTF">2026-05-30T11:05:00.4390000Z</dcterms:modified>
</coreProperties>
</file>